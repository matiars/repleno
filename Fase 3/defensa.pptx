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entury Gothic" panose="020B0502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PN9XpRzhCEeLv8W+u8wPsdHQ9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ea9d5919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ea9d5919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8acfe7504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338acfe750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1e5450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g3aa1e5450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1e5450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g3aa1e5450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f60fed6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af60fed6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e576175f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g3ae576175f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c762ae95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g35c762ae95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dbc7f2c2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" name="Google Shape;215;g38dbc7f2c2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dbc7f2c2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dbc7f2c2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7db8b3d50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7db8b3d50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f60fed6a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f60fed6a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f654526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f654526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c762ae95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5c762ae95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7" name="Google Shape;17;p9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5" name="Google Shape;25;p11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1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4" name="Google Shape;34;p12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45" name="Google Shape;45;p13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52" name="Google Shape;52;p14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58" name="Google Shape;58;p15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7" name="Google Shape;67;p16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76" name="Google Shape;76;p17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84" name="Google Shape;84;p18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2" name="Google Shape;92;p19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6194715" y="482906"/>
            <a:ext cx="5910330" cy="144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US" sz="4800"/>
              <a:t>Repleno</a:t>
            </a:r>
            <a:endParaRPr sz="4800"/>
          </a:p>
        </p:txBody>
      </p:sp>
      <p:sp>
        <p:nvSpPr>
          <p:cNvPr id="100" name="Google Shape;100;p1"/>
          <p:cNvSpPr txBox="1">
            <a:spLocks noGrp="1"/>
          </p:cNvSpPr>
          <p:nvPr>
            <p:ph type="subTitle" idx="1"/>
          </p:nvPr>
        </p:nvSpPr>
        <p:spPr>
          <a:xfrm>
            <a:off x="6086445" y="3156434"/>
            <a:ext cx="6018600" cy="3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 err="1">
                <a:latin typeface="Century Gothic"/>
                <a:ea typeface="Century Gothic"/>
                <a:cs typeface="Century Gothic"/>
                <a:sym typeface="Century Gothic"/>
              </a:rPr>
              <a:t>Nombres</a:t>
            </a:r>
            <a:r>
              <a:rPr lang="en-US" sz="2000" dirty="0"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r>
              <a:rPr lang="en-US" sz="2000" dirty="0"/>
              <a:t> </a:t>
            </a:r>
            <a:r>
              <a:rPr lang="en-US" sz="2000" dirty="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000" dirty="0"/>
              <a:t>S</a:t>
            </a:r>
            <a:r>
              <a:rPr lang="en-US" sz="2000" dirty="0">
                <a:latin typeface="Century Gothic"/>
                <a:ea typeface="Century Gothic"/>
                <a:cs typeface="Century Gothic"/>
                <a:sym typeface="Century Gothic"/>
              </a:rPr>
              <a:t>ebastian Martinez(PO), </a:t>
            </a:r>
            <a:r>
              <a:rPr lang="en-US" sz="2000" dirty="0"/>
              <a:t>Matias </a:t>
            </a:r>
            <a:r>
              <a:rPr lang="en-US" sz="2000" dirty="0" err="1"/>
              <a:t>Ordenes</a:t>
            </a:r>
            <a:r>
              <a:rPr lang="en-US" sz="2000" dirty="0"/>
              <a:t>(SM), Jordy </a:t>
            </a:r>
            <a:r>
              <a:rPr lang="en-US" sz="2000" dirty="0" err="1"/>
              <a:t>Lizana</a:t>
            </a:r>
            <a:r>
              <a:rPr lang="en-US" sz="2000" dirty="0"/>
              <a:t>(PP)</a:t>
            </a:r>
          </a:p>
          <a:p>
            <a:pPr marL="101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 err="1">
                <a:latin typeface="Century Gothic"/>
                <a:ea typeface="Century Gothic"/>
                <a:cs typeface="Century Gothic"/>
                <a:sym typeface="Century Gothic"/>
              </a:rPr>
              <a:t>Asignatura</a:t>
            </a:r>
            <a:r>
              <a:rPr lang="en-US" sz="2000" dirty="0"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r>
              <a:rPr lang="en-US" sz="2000" dirty="0"/>
              <a:t> Capstone 007D</a:t>
            </a:r>
            <a:endParaRPr sz="2000" dirty="0">
              <a:solidFill>
                <a:srgbClr val="262626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000" dirty="0">
              <a:solidFill>
                <a:srgbClr val="262626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 err="1">
                <a:latin typeface="Century Gothic"/>
                <a:ea typeface="Century Gothic"/>
                <a:cs typeface="Century Gothic"/>
                <a:sym typeface="Century Gothic"/>
              </a:rPr>
              <a:t>Docente</a:t>
            </a:r>
            <a:r>
              <a:rPr lang="en-US" sz="2000" dirty="0"/>
              <a:t>: Juan Alberto </a:t>
            </a:r>
            <a:r>
              <a:rPr lang="en-US" sz="2000" dirty="0" err="1"/>
              <a:t>Gana</a:t>
            </a:r>
            <a:endParaRPr dirty="0"/>
          </a:p>
        </p:txBody>
      </p:sp>
      <p:sp>
        <p:nvSpPr>
          <p:cNvPr id="101" name="Google Shape;101;p1"/>
          <p:cNvSpPr/>
          <p:nvPr/>
        </p:nvSpPr>
        <p:spPr>
          <a:xfrm flipH="1">
            <a:off x="530529" y="1"/>
            <a:ext cx="1155142" cy="591009"/>
          </a:xfrm>
          <a:custGeom>
            <a:avLst/>
            <a:gdLst/>
            <a:ahLst/>
            <a:cxnLst/>
            <a:rect l="l" t="t" r="r" b="b"/>
            <a:pathLst>
              <a:path w="1155142" h="591009" extrusionOk="0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 flipH="1">
            <a:off x="4349052" y="0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 flipH="1">
            <a:off x="0" y="2916245"/>
            <a:ext cx="159741" cy="552996"/>
          </a:xfrm>
          <a:custGeom>
            <a:avLst/>
            <a:gdLst/>
            <a:ahLst/>
            <a:cxnLst/>
            <a:rect l="l" t="t" r="r" b="b"/>
            <a:pathLst>
              <a:path w="159741" h="552996" extrusionOk="0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 flipH="1">
            <a:off x="0" y="5835649"/>
            <a:ext cx="1548180" cy="1022351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 flipH="1">
            <a:off x="3697761" y="5717906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 extrusionOk="0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 flipH="1">
            <a:off x="4520513" y="6258756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402490" y="2206656"/>
            <a:ext cx="5289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Escuela de informática y telecomunicaciones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5673" y="3416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840" y="1408869"/>
            <a:ext cx="4926530" cy="4783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_Promocional_de_Gestión_de_Inventario">
            <a:hlinkClick r:id="" action="ppaction://media"/>
            <a:extLst>
              <a:ext uri="{FF2B5EF4-FFF2-40B4-BE49-F238E27FC236}">
                <a16:creationId xmlns:a16="http://schemas.microsoft.com/office/drawing/2014/main" id="{4A7E0FE9-9C91-4A88-AD57-6FCEE0BBC0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9233418" y="242750"/>
            <a:ext cx="2796000" cy="2796000"/>
          </a:xfrm>
          <a:prstGeom prst="arc">
            <a:avLst>
              <a:gd name="adj1" fmla="val 14441841"/>
              <a:gd name="adj2" fmla="val 0"/>
            </a:avLst>
          </a:prstGeom>
          <a:noFill/>
          <a:ln w="118825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85550" tIns="42775" rIns="85550" bIns="42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4"/>
              <a:buFont typeface="Century Gothic"/>
              <a:buNone/>
            </a:pPr>
            <a:endParaRPr sz="149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>
            <a:spLocks noGrp="1"/>
          </p:cNvSpPr>
          <p:nvPr>
            <p:ph type="ctrTitle"/>
          </p:nvPr>
        </p:nvSpPr>
        <p:spPr>
          <a:xfrm>
            <a:off x="6956175" y="432773"/>
            <a:ext cx="4250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Introduccion</a:t>
            </a:r>
            <a:endParaRPr sz="2000"/>
          </a:p>
        </p:txBody>
      </p:sp>
      <p:sp>
        <p:nvSpPr>
          <p:cNvPr id="123" name="Google Shape;123;p2"/>
          <p:cNvSpPr/>
          <p:nvPr/>
        </p:nvSpPr>
        <p:spPr>
          <a:xfrm>
            <a:off x="11006551" y="5986323"/>
            <a:ext cx="480300" cy="467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85550" tIns="42775" rIns="85550" bIns="42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84"/>
              <a:buFont typeface="Century Gothic"/>
              <a:buNone/>
            </a:pPr>
            <a:endParaRPr sz="149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225" y="1090375"/>
            <a:ext cx="6236326" cy="467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 rot="10800000" flipH="1">
            <a:off x="6789545" y="5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956175" y="1289793"/>
            <a:ext cx="3977100" cy="6153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Problematica presentada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56175" y="2869733"/>
            <a:ext cx="3818700" cy="560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Metodología y arquitectura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965439" y="2134953"/>
            <a:ext cx="3958800" cy="561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956187" y="3604232"/>
            <a:ext cx="4050300" cy="560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 y APIs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956175" y="4338731"/>
            <a:ext cx="3818700" cy="5607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Normas ISO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p2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223" y="1948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/>
        </p:nvSpPr>
        <p:spPr>
          <a:xfrm>
            <a:off x="6956187" y="5073230"/>
            <a:ext cx="4093500" cy="5607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Suposiciones y restricciones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8acfe7504_0_2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38acfe7504_0_23"/>
          <p:cNvSpPr txBox="1">
            <a:spLocks noGrp="1"/>
          </p:cNvSpPr>
          <p:nvPr>
            <p:ph type="ctrTitle"/>
          </p:nvPr>
        </p:nvSpPr>
        <p:spPr>
          <a:xfrm>
            <a:off x="3469100" y="729025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Problematica presentada</a:t>
            </a:r>
            <a:endParaRPr sz="2000"/>
          </a:p>
        </p:txBody>
      </p:sp>
      <p:sp>
        <p:nvSpPr>
          <p:cNvPr id="140" name="Google Shape;140;g338acfe7504_0_2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38acfe7504_0_23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38acfe7504_0_23"/>
          <p:cNvSpPr/>
          <p:nvPr/>
        </p:nvSpPr>
        <p:spPr>
          <a:xfrm rot="10800000" flipH="1">
            <a:off x="6789545" y="5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38acfe7504_0_23"/>
          <p:cNvSpPr txBox="1"/>
          <p:nvPr/>
        </p:nvSpPr>
        <p:spPr>
          <a:xfrm>
            <a:off x="1866550" y="2098600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Mala organizacion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338acfe7504_0_23"/>
          <p:cNvSpPr txBox="1"/>
          <p:nvPr/>
        </p:nvSpPr>
        <p:spPr>
          <a:xfrm>
            <a:off x="6268775" y="3739750"/>
            <a:ext cx="46266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Falta de historial y registros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338acfe7504_0_23"/>
          <p:cNvSpPr txBox="1"/>
          <p:nvPr/>
        </p:nvSpPr>
        <p:spPr>
          <a:xfrm>
            <a:off x="1812100" y="3675150"/>
            <a:ext cx="38280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Pérdida de seguimiento 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338acfe7504_0_23"/>
          <p:cNvSpPr txBox="1"/>
          <p:nvPr/>
        </p:nvSpPr>
        <p:spPr>
          <a:xfrm>
            <a:off x="5368100" y="2098600"/>
            <a:ext cx="5527200" cy="657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 de inventario escaso o nulo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7" name="Google Shape;147;g338acfe7504_0_23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a1e545030_0_0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a1e545030_0_0"/>
          <p:cNvSpPr txBox="1">
            <a:spLocks noGrp="1"/>
          </p:cNvSpPr>
          <p:nvPr>
            <p:ph type="ctrTitle"/>
          </p:nvPr>
        </p:nvSpPr>
        <p:spPr>
          <a:xfrm>
            <a:off x="3002100" y="547400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Objetivos</a:t>
            </a:r>
            <a:endParaRPr sz="2000"/>
          </a:p>
        </p:txBody>
      </p:sp>
      <p:sp>
        <p:nvSpPr>
          <p:cNvPr id="154" name="Google Shape;154;g3aa1e545030_0_0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aa1e545030_0_0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aa1e545030_0_0"/>
          <p:cNvSpPr/>
          <p:nvPr/>
        </p:nvSpPr>
        <p:spPr>
          <a:xfrm rot="10800000" flipH="1">
            <a:off x="6789545" y="5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aa1e545030_0_0"/>
          <p:cNvSpPr txBox="1"/>
          <p:nvPr/>
        </p:nvSpPr>
        <p:spPr>
          <a:xfrm>
            <a:off x="1638725" y="2167688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general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3aa1e545030_0_0"/>
          <p:cNvSpPr txBox="1"/>
          <p:nvPr/>
        </p:nvSpPr>
        <p:spPr>
          <a:xfrm>
            <a:off x="6473375" y="2704638"/>
            <a:ext cx="4811400" cy="2060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-Implementar Firebase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-Integrar API gemini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-Carga de CSV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-Reducir tiempos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-Facilitar toma decisiones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3aa1e545030_0_0"/>
          <p:cNvSpPr txBox="1"/>
          <p:nvPr/>
        </p:nvSpPr>
        <p:spPr>
          <a:xfrm>
            <a:off x="1638725" y="2825288"/>
            <a:ext cx="3828000" cy="171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-Desarrollar sistema online gestion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Asistente virtual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-Automatizar y optimizar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g3aa1e545030_0_0"/>
          <p:cNvSpPr txBox="1"/>
          <p:nvPr/>
        </p:nvSpPr>
        <p:spPr>
          <a:xfrm>
            <a:off x="6473375" y="2047038"/>
            <a:ext cx="3344700" cy="657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 especificos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1" name="Google Shape;161;g3aa1e545030_0_0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a1e545030_0_1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aa1e545030_0_13"/>
          <p:cNvSpPr txBox="1">
            <a:spLocks noGrp="1"/>
          </p:cNvSpPr>
          <p:nvPr>
            <p:ph type="ctrTitle"/>
          </p:nvPr>
        </p:nvSpPr>
        <p:spPr>
          <a:xfrm>
            <a:off x="3002100" y="547400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Metodologia</a:t>
            </a:r>
            <a:endParaRPr sz="2000"/>
          </a:p>
        </p:txBody>
      </p:sp>
      <p:sp>
        <p:nvSpPr>
          <p:cNvPr id="168" name="Google Shape;168;g3aa1e545030_0_1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aa1e545030_0_13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aa1e545030_0_13"/>
          <p:cNvSpPr/>
          <p:nvPr/>
        </p:nvSpPr>
        <p:spPr>
          <a:xfrm rot="10800000" flipH="1">
            <a:off x="6789545" y="5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aa1e545030_0_13"/>
          <p:cNvSpPr txBox="1"/>
          <p:nvPr/>
        </p:nvSpPr>
        <p:spPr>
          <a:xfrm>
            <a:off x="4468650" y="1383463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 Agil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g3aa1e545030_0_13"/>
          <p:cNvSpPr txBox="1"/>
          <p:nvPr/>
        </p:nvSpPr>
        <p:spPr>
          <a:xfrm>
            <a:off x="1548175" y="2449797"/>
            <a:ext cx="3828000" cy="1368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Estructura flexible, itineraria y orientada a entregas continuas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3" name="Google Shape;173;g3aa1e545030_0_13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aa1e545030_0_13"/>
          <p:cNvSpPr txBox="1"/>
          <p:nvPr/>
        </p:nvSpPr>
        <p:spPr>
          <a:xfrm>
            <a:off x="7016275" y="2569496"/>
            <a:ext cx="3828000" cy="11292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Sprints con incremento del producto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5" name="Google Shape;175;g3aa1e545030_0_13"/>
          <p:cNvSpPr txBox="1"/>
          <p:nvPr/>
        </p:nvSpPr>
        <p:spPr>
          <a:xfrm>
            <a:off x="1789825" y="4585625"/>
            <a:ext cx="4687200" cy="1368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Colaboración entre desarrolladores, comprension compartida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3aa1e545030_0_13"/>
          <p:cNvSpPr txBox="1"/>
          <p:nvPr/>
        </p:nvSpPr>
        <p:spPr>
          <a:xfrm>
            <a:off x="7016275" y="4193895"/>
            <a:ext cx="3828000" cy="10044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Incremento calidad de producto final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f60fed6a4_0_0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af60fed6a4_0_0"/>
          <p:cNvSpPr txBox="1">
            <a:spLocks noGrp="1"/>
          </p:cNvSpPr>
          <p:nvPr>
            <p:ph type="ctrTitle"/>
          </p:nvPr>
        </p:nvSpPr>
        <p:spPr>
          <a:xfrm>
            <a:off x="3117688" y="0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Cronograma</a:t>
            </a:r>
            <a:endParaRPr sz="2000"/>
          </a:p>
        </p:txBody>
      </p:sp>
      <p:sp>
        <p:nvSpPr>
          <p:cNvPr id="183" name="Google Shape;183;g3af60fed6a4_0_0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af60fed6a4_0_0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af60fed6a4_0_0"/>
          <p:cNvSpPr/>
          <p:nvPr/>
        </p:nvSpPr>
        <p:spPr>
          <a:xfrm rot="10800000" flipH="1">
            <a:off x="7710495" y="29180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g3af60fed6a4_0_0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af60fed6a4_0_0" title="ch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1450" y="857850"/>
            <a:ext cx="8881300" cy="60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e576175f6_0_2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ae576175f6_0_2"/>
          <p:cNvSpPr txBox="1">
            <a:spLocks noGrp="1"/>
          </p:cNvSpPr>
          <p:nvPr>
            <p:ph type="ctrTitle"/>
          </p:nvPr>
        </p:nvSpPr>
        <p:spPr>
          <a:xfrm>
            <a:off x="2933725" y="800400"/>
            <a:ext cx="62127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Arquitectura</a:t>
            </a:r>
            <a:endParaRPr sz="35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Modelo logico base de datos</a:t>
            </a:r>
            <a:endParaRPr sz="3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endParaRPr sz="3500"/>
          </a:p>
        </p:txBody>
      </p:sp>
      <p:sp>
        <p:nvSpPr>
          <p:cNvPr id="194" name="Google Shape;194;g3ae576175f6_0_2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ae576175f6_0_2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3ae576175f6_0_2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ae576175f6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2750" y="1080250"/>
            <a:ext cx="7740349" cy="52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c762ae955_0_23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5c762ae955_0_2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5c762ae955_0_23"/>
          <p:cNvSpPr txBox="1">
            <a:spLocks noGrp="1"/>
          </p:cNvSpPr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Clientes</a:t>
            </a:r>
            <a:endParaRPr sz="2000"/>
          </a:p>
        </p:txBody>
      </p:sp>
      <p:sp>
        <p:nvSpPr>
          <p:cNvPr id="205" name="Google Shape;205;g35c762ae955_0_2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5c762ae955_0_23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5c762ae955_0_23"/>
          <p:cNvSpPr/>
          <p:nvPr/>
        </p:nvSpPr>
        <p:spPr>
          <a:xfrm rot="10800000" flipH="1">
            <a:off x="2840420" y="505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5c762ae955_0_23"/>
          <p:cNvSpPr txBox="1"/>
          <p:nvPr/>
        </p:nvSpPr>
        <p:spPr>
          <a:xfrm>
            <a:off x="1212725" y="2418700"/>
            <a:ext cx="3327900" cy="657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Dueños de negocios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g35c762ae955_0_23"/>
          <p:cNvSpPr txBox="1"/>
          <p:nvPr/>
        </p:nvSpPr>
        <p:spPr>
          <a:xfrm>
            <a:off x="1212725" y="4123530"/>
            <a:ext cx="33279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Almacenes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35c762ae955_0_23"/>
          <p:cNvSpPr txBox="1"/>
          <p:nvPr/>
        </p:nvSpPr>
        <p:spPr>
          <a:xfrm>
            <a:off x="1212725" y="3332200"/>
            <a:ext cx="33279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Pymes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1" name="Google Shape;211;g35c762ae955_0_23" title="descarga 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6184" y="1933184"/>
            <a:ext cx="3702300" cy="37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5c762ae955_0_23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498" y="435312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dbc7f2c22_0_7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8dbc7f2c22_0_7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8dbc7f2c22_0_7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8dbc7f2c22_0_7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8dbc7f2c22_0_7"/>
          <p:cNvSpPr/>
          <p:nvPr/>
        </p:nvSpPr>
        <p:spPr>
          <a:xfrm rot="10800000" flipH="1">
            <a:off x="2840420" y="505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8dbc7f2c22_0_7"/>
          <p:cNvSpPr txBox="1">
            <a:spLocks noGrp="1"/>
          </p:cNvSpPr>
          <p:nvPr>
            <p:ph type="ctrTitle"/>
          </p:nvPr>
        </p:nvSpPr>
        <p:spPr>
          <a:xfrm>
            <a:off x="4481125" y="29462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APIs y herramientas</a:t>
            </a:r>
            <a:endParaRPr sz="2000"/>
          </a:p>
        </p:txBody>
      </p:sp>
      <p:pic>
        <p:nvPicPr>
          <p:cNvPr id="223" name="Google Shape;223;g38dbc7f2c2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75" y="3864800"/>
            <a:ext cx="3825652" cy="10044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24" name="Google Shape;224;g38dbc7f2c22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75" y="1873450"/>
            <a:ext cx="3592524" cy="11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25" name="Google Shape;225;g38dbc7f2c22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829" y="1538275"/>
            <a:ext cx="6037952" cy="40152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26" name="Google Shape;226;g38dbc7f2c22_0_7" descr="Logotipo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673" y="299699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dbc7f2c22_0_2"/>
          <p:cNvSpPr txBox="1">
            <a:spLocks noGrp="1"/>
          </p:cNvSpPr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Normas ISO</a:t>
            </a:r>
            <a:endParaRPr sz="2000"/>
          </a:p>
        </p:txBody>
      </p:sp>
      <p:pic>
        <p:nvPicPr>
          <p:cNvPr id="232" name="Google Shape;232;g38dbc7f2c22_0_2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8dbc7f2c22_0_2"/>
          <p:cNvSpPr txBox="1"/>
          <p:nvPr/>
        </p:nvSpPr>
        <p:spPr>
          <a:xfrm>
            <a:off x="717575" y="2372425"/>
            <a:ext cx="5699400" cy="599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Seguridad de la información 27.001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g38dbc7f2c22_0_2"/>
          <p:cNvSpPr txBox="1"/>
          <p:nvPr/>
        </p:nvSpPr>
        <p:spPr>
          <a:xfrm>
            <a:off x="7333400" y="2971975"/>
            <a:ext cx="3702300" cy="16269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-Funcionalidad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-Usabilidad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-Seguridad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-Mantenibilidad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g38dbc7f2c22_0_2"/>
          <p:cNvSpPr txBox="1"/>
          <p:nvPr/>
        </p:nvSpPr>
        <p:spPr>
          <a:xfrm>
            <a:off x="7333400" y="2372425"/>
            <a:ext cx="43629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Calidad de software 25.010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g38dbc7f2c22_0_2"/>
          <p:cNvSpPr txBox="1"/>
          <p:nvPr/>
        </p:nvSpPr>
        <p:spPr>
          <a:xfrm>
            <a:off x="717575" y="2971825"/>
            <a:ext cx="5078100" cy="1403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-Control de acceso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-Protección de datos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-Gestión de riesgos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7db8b3d50_1_22"/>
          <p:cNvSpPr txBox="1">
            <a:spLocks noGrp="1"/>
          </p:cNvSpPr>
          <p:nvPr>
            <p:ph type="ctrTitle"/>
          </p:nvPr>
        </p:nvSpPr>
        <p:spPr>
          <a:xfrm>
            <a:off x="3246300" y="633300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Suposiciones y restricciones</a:t>
            </a:r>
            <a:endParaRPr sz="2000"/>
          </a:p>
        </p:txBody>
      </p:sp>
      <p:pic>
        <p:nvPicPr>
          <p:cNvPr id="242" name="Google Shape;242;g3a7db8b3d50_1_22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a7db8b3d50_1_22"/>
          <p:cNvSpPr txBox="1"/>
          <p:nvPr/>
        </p:nvSpPr>
        <p:spPr>
          <a:xfrm>
            <a:off x="1394675" y="2052150"/>
            <a:ext cx="4488000" cy="27537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-Disponibilidad de internet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-Conocimiento básico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-Acceso de dispositivos compatibles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-Integración funcional de APIs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-Datos en plantilla CSV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g3a7db8b3d50_1_22"/>
          <p:cNvSpPr txBox="1"/>
          <p:nvPr/>
        </p:nvSpPr>
        <p:spPr>
          <a:xfrm>
            <a:off x="6116050" y="2052200"/>
            <a:ext cx="5554500" cy="2753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-Dependencias de servicios externos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-Limitación presupuesto y recursos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-Alcance a negocios pequeños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-Capacidad de almacenamiento y nube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-Privacidad y seguridad de datos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f60fed6a4_0_17"/>
          <p:cNvSpPr txBox="1">
            <a:spLocks noGrp="1"/>
          </p:cNvSpPr>
          <p:nvPr>
            <p:ph type="ctrTitle"/>
          </p:nvPr>
        </p:nvSpPr>
        <p:spPr>
          <a:xfrm>
            <a:off x="3246300" y="633300"/>
            <a:ext cx="68802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Obstáculos durante el proceso</a:t>
            </a:r>
            <a:endParaRPr sz="2000"/>
          </a:p>
        </p:txBody>
      </p:sp>
      <p:pic>
        <p:nvPicPr>
          <p:cNvPr id="250" name="Google Shape;250;g3af60fed6a4_0_17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af60fed6a4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9100" y="1707925"/>
            <a:ext cx="6276475" cy="38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f65452662_0_0"/>
          <p:cNvSpPr txBox="1">
            <a:spLocks noGrp="1"/>
          </p:cNvSpPr>
          <p:nvPr>
            <p:ph type="ctrTitle"/>
          </p:nvPr>
        </p:nvSpPr>
        <p:spPr>
          <a:xfrm>
            <a:off x="3246300" y="633300"/>
            <a:ext cx="68802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Resultados obtenidos</a:t>
            </a:r>
            <a:endParaRPr sz="3500"/>
          </a:p>
        </p:txBody>
      </p:sp>
      <p:pic>
        <p:nvPicPr>
          <p:cNvPr id="257" name="Google Shape;257;g3af65452662_0_0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af6545266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3125" y="2496101"/>
            <a:ext cx="4220652" cy="281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af65452662_0_0"/>
          <p:cNvSpPr txBox="1"/>
          <p:nvPr/>
        </p:nvSpPr>
        <p:spPr>
          <a:xfrm>
            <a:off x="1739600" y="2669883"/>
            <a:ext cx="3818700" cy="560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Disminución de errores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" name="Google Shape;260;g3af65452662_0_0"/>
          <p:cNvSpPr txBox="1"/>
          <p:nvPr/>
        </p:nvSpPr>
        <p:spPr>
          <a:xfrm>
            <a:off x="1748876" y="1935100"/>
            <a:ext cx="4467000" cy="561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Reducción tiempos de gestión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" name="Google Shape;261;g3af65452662_0_0"/>
          <p:cNvSpPr txBox="1"/>
          <p:nvPr/>
        </p:nvSpPr>
        <p:spPr>
          <a:xfrm>
            <a:off x="1739612" y="3404382"/>
            <a:ext cx="4050300" cy="560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Incremento de disponibilidad 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3af65452662_0_0"/>
          <p:cNvSpPr txBox="1"/>
          <p:nvPr/>
        </p:nvSpPr>
        <p:spPr>
          <a:xfrm>
            <a:off x="1739600" y="4138881"/>
            <a:ext cx="3818700" cy="5607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Satisfacción del usuario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g3af65452662_0_0"/>
          <p:cNvSpPr txBox="1"/>
          <p:nvPr/>
        </p:nvSpPr>
        <p:spPr>
          <a:xfrm>
            <a:off x="1739599" y="4873375"/>
            <a:ext cx="4467000" cy="5607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Adopción continua del sistema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g3af65452662_0_0"/>
          <p:cNvSpPr txBox="1"/>
          <p:nvPr/>
        </p:nvSpPr>
        <p:spPr>
          <a:xfrm>
            <a:off x="1739599" y="5705325"/>
            <a:ext cx="4467000" cy="5607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85550" tIns="85550" rIns="85550" bIns="85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Mejora en tomas de decisiones</a:t>
            </a:r>
            <a:endParaRPr sz="2058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c762ae955_0_68"/>
          <p:cNvSpPr txBox="1">
            <a:spLocks noGrp="1"/>
          </p:cNvSpPr>
          <p:nvPr>
            <p:ph type="ctrTitle"/>
          </p:nvPr>
        </p:nvSpPr>
        <p:spPr>
          <a:xfrm>
            <a:off x="2521525" y="0"/>
            <a:ext cx="7028700" cy="14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4000"/>
              <a:t>Demo</a:t>
            </a:r>
            <a:endParaRPr sz="4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endParaRPr sz="4000"/>
          </a:p>
        </p:txBody>
      </p:sp>
      <p:sp>
        <p:nvSpPr>
          <p:cNvPr id="270" name="Google Shape;270;g35c762ae955_0_68"/>
          <p:cNvSpPr/>
          <p:nvPr/>
        </p:nvSpPr>
        <p:spPr>
          <a:xfrm flipH="1">
            <a:off x="530529" y="1"/>
            <a:ext cx="1155142" cy="591009"/>
          </a:xfrm>
          <a:custGeom>
            <a:avLst/>
            <a:gdLst/>
            <a:ahLst/>
            <a:cxnLst/>
            <a:rect l="l" t="t" r="r" b="b"/>
            <a:pathLst>
              <a:path w="1155142" h="591009" extrusionOk="0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5c762ae955_0_68"/>
          <p:cNvSpPr/>
          <p:nvPr/>
        </p:nvSpPr>
        <p:spPr>
          <a:xfrm rot="5400000" flipH="1">
            <a:off x="10843531" y="2080531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5c762ae955_0_68"/>
          <p:cNvSpPr/>
          <p:nvPr/>
        </p:nvSpPr>
        <p:spPr>
          <a:xfrm flipH="1">
            <a:off x="0" y="2916245"/>
            <a:ext cx="159741" cy="552996"/>
          </a:xfrm>
          <a:custGeom>
            <a:avLst/>
            <a:gdLst/>
            <a:ahLst/>
            <a:cxnLst/>
            <a:rect l="l" t="t" r="r" b="b"/>
            <a:pathLst>
              <a:path w="159741" h="552996" extrusionOk="0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5c762ae955_0_68"/>
          <p:cNvSpPr/>
          <p:nvPr/>
        </p:nvSpPr>
        <p:spPr>
          <a:xfrm flipH="1">
            <a:off x="0" y="5854045"/>
            <a:ext cx="1548180" cy="1004460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5c762ae955_0_68"/>
          <p:cNvSpPr/>
          <p:nvPr/>
        </p:nvSpPr>
        <p:spPr>
          <a:xfrm flipH="1">
            <a:off x="9775005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 extrusionOk="0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5c762ae955_0_68"/>
          <p:cNvSpPr/>
          <p:nvPr/>
        </p:nvSpPr>
        <p:spPr>
          <a:xfrm flipH="1">
            <a:off x="10330470" y="6258755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g35c762ae955_0_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5020" y="1356113"/>
            <a:ext cx="7315206" cy="5100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AnalogousFromDarkSeedLeftStep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Panorámica</PresentationFormat>
  <Paragraphs>74</Paragraphs>
  <Slides>15</Slides>
  <Notes>15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Calibri</vt:lpstr>
      <vt:lpstr>ShapesVTI</vt:lpstr>
      <vt:lpstr>Repleno</vt:lpstr>
      <vt:lpstr>Presentación de PowerPoint</vt:lpstr>
      <vt:lpstr>Introduccion</vt:lpstr>
      <vt:lpstr>Problematica presentada</vt:lpstr>
      <vt:lpstr>Objetivos</vt:lpstr>
      <vt:lpstr>Metodologia</vt:lpstr>
      <vt:lpstr>Cronograma</vt:lpstr>
      <vt:lpstr>Arquitectura Modelo logico base de datos </vt:lpstr>
      <vt:lpstr>Clientes</vt:lpstr>
      <vt:lpstr>APIs y herramientas</vt:lpstr>
      <vt:lpstr>Normas ISO</vt:lpstr>
      <vt:lpstr>Suposiciones y restricciones</vt:lpstr>
      <vt:lpstr>Obstáculos durante el proceso</vt:lpstr>
      <vt:lpstr>Resultados obtenidos</vt:lpstr>
      <vt:lpstr>Demo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Repleno</dc:title>
  <dc:creator>Acer</dc:creator>
  <cp:lastModifiedBy>SSDD</cp:lastModifiedBy>
  <cp:revision>2</cp:revision>
  <dcterms:created xsi:type="dcterms:W3CDTF">2023-05-11T19:58:58Z</dcterms:created>
  <dcterms:modified xsi:type="dcterms:W3CDTF">2025-12-10T20:12:58Z</dcterms:modified>
</cp:coreProperties>
</file>