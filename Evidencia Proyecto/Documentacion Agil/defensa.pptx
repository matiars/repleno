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embeddedFontLst>
    <p:embeddedFont>
      <p:font typeface="Century Gothic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iXO6EiUSWz26OaoG+RJxq5g/f0Y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CenturyGothic-boldItalic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customschemas.google.com/relationships/presentationmetadata" Target="meta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font" Target="fonts/CenturyGothic-regular.fntdata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font" Target="fonts/CenturyGothic-italic.fntdata"/><Relationship Id="rId6" Type="http://schemas.openxmlformats.org/officeDocument/2006/relationships/slide" Target="slides/slide2.xml"/><Relationship Id="rId18" Type="http://schemas.openxmlformats.org/officeDocument/2006/relationships/font" Target="fonts/CenturyGothic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6" name="Google Shape;9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ea9d59199_1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aea9d5919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9" name="Google Shape;119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38acfe7504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6" name="Google Shape;136;g338acfe7504_0_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aa1e54503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0" name="Google Shape;150;g3aa1e545030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aa1e545030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4" name="Google Shape;164;g3aa1e545030_0_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ae576175f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9" name="Google Shape;179;g3ae576175f6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5c762ae955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9" name="Google Shape;189;g35c762ae955_0_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8dbc7f2c22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4" name="Google Shape;204;g38dbc7f2c22_0_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8dbc7f2c22_0_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8dbc7f2c22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a7db8b3d50_1_2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3a7db8b3d50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5c762ae955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8" name="Google Shape;238;g35c762ae955_0_6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9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" name="Google Shape;17;p9"/>
          <p:cNvSpPr/>
          <p:nvPr/>
        </p:nvSpPr>
        <p:spPr>
          <a:xfrm>
            <a:off x="10208695" y="1"/>
            <a:ext cx="1135066" cy="477997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9"/>
          <p:cNvSpPr/>
          <p:nvPr/>
        </p:nvSpPr>
        <p:spPr>
          <a:xfrm flipH="1">
            <a:off x="555710" y="1064829"/>
            <a:ext cx="4083433" cy="4083433"/>
          </a:xfrm>
          <a:prstGeom prst="arc">
            <a:avLst>
              <a:gd fmla="val 16200000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1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" name="Google Shape;25;p11"/>
          <p:cNvSpPr/>
          <p:nvPr/>
        </p:nvSpPr>
        <p:spPr>
          <a:xfrm>
            <a:off x="10208695" y="1"/>
            <a:ext cx="1135066" cy="477997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1"/>
          <p:cNvSpPr/>
          <p:nvPr/>
        </p:nvSpPr>
        <p:spPr>
          <a:xfrm flipH="1">
            <a:off x="555710" y="1064829"/>
            <a:ext cx="4083433" cy="4083433"/>
          </a:xfrm>
          <a:prstGeom prst="arc">
            <a:avLst>
              <a:gd fmla="val 16200000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2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12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12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12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3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3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3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3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" name="Google Shape;45;p13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3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14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14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8" name="Google Shape;58;p15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5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3" name="Google Shape;63;p16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4" name="Google Shape;6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7" name="Google Shape;67;p16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6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7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17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3" name="Google Shape;73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6" name="Google Shape;76;p17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7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4" name="Google Shape;84;p18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8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9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9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2" name="Google Shape;92;p19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9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b="0" i="0" sz="32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55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302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drive.google.com/file/d/1gkYWLw9hlR2EeGifQA9hDPwdS85mo08R/view" TargetMode="External"/><Relationship Id="rId4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"/>
          <p:cNvSpPr txBox="1"/>
          <p:nvPr>
            <p:ph type="ctrTitle"/>
          </p:nvPr>
        </p:nvSpPr>
        <p:spPr>
          <a:xfrm>
            <a:off x="6194715" y="482906"/>
            <a:ext cx="5910330" cy="144652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</a:pPr>
            <a:r>
              <a:rPr lang="en-US" sz="4800"/>
              <a:t>Repleno</a:t>
            </a:r>
            <a:endParaRPr sz="4800"/>
          </a:p>
        </p:txBody>
      </p:sp>
      <p:sp>
        <p:nvSpPr>
          <p:cNvPr id="100" name="Google Shape;100;p1"/>
          <p:cNvSpPr txBox="1"/>
          <p:nvPr>
            <p:ph idx="1" type="subTitle"/>
          </p:nvPr>
        </p:nvSpPr>
        <p:spPr>
          <a:xfrm>
            <a:off x="6086445" y="3156434"/>
            <a:ext cx="6018600" cy="32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Nombres:</a:t>
            </a:r>
            <a:r>
              <a:rPr lang="en-US" sz="2000"/>
              <a:t> </a:t>
            </a: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-US" sz="2000"/>
              <a:t>S</a:t>
            </a: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ebastian Martinez, </a:t>
            </a:r>
            <a:r>
              <a:rPr lang="en-US" sz="2000"/>
              <a:t>Matias Ordenes, Jordy Lizana</a:t>
            </a:r>
            <a:endParaRPr sz="2000"/>
          </a:p>
          <a:p>
            <a:pPr indent="-3556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Fecha:</a:t>
            </a:r>
            <a:r>
              <a:rPr lang="en-US" sz="2000"/>
              <a:t>21</a:t>
            </a: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-</a:t>
            </a:r>
            <a:r>
              <a:rPr lang="en-US" sz="2000"/>
              <a:t>11</a:t>
            </a: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-202</a:t>
            </a:r>
            <a:r>
              <a:rPr lang="en-US" sz="2000"/>
              <a:t>5</a:t>
            </a:r>
            <a:endParaRPr sz="2000"/>
          </a:p>
          <a:p>
            <a:pPr indent="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000"/>
          </a:p>
          <a:p>
            <a:pPr indent="-3556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Asignatura:</a:t>
            </a:r>
            <a:r>
              <a:rPr lang="en-US" sz="2000"/>
              <a:t> Capstone 007D</a:t>
            </a:r>
            <a:endParaRPr sz="2000">
              <a:solidFill>
                <a:srgbClr val="262626"/>
              </a:solidFill>
            </a:endParaRPr>
          </a:p>
          <a:p>
            <a:pPr indent="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000">
              <a:solidFill>
                <a:srgbClr val="262626"/>
              </a:solidFill>
            </a:endParaRPr>
          </a:p>
          <a:p>
            <a:pPr indent="-3556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Docente</a:t>
            </a:r>
            <a:r>
              <a:rPr lang="en-US" sz="2000"/>
              <a:t>: Juan Alberto Gana</a:t>
            </a:r>
            <a:endParaRPr/>
          </a:p>
        </p:txBody>
      </p:sp>
      <p:sp>
        <p:nvSpPr>
          <p:cNvPr id="101" name="Google Shape;101;p1"/>
          <p:cNvSpPr/>
          <p:nvPr/>
        </p:nvSpPr>
        <p:spPr>
          <a:xfrm flipH="1">
            <a:off x="530529" y="1"/>
            <a:ext cx="1155142" cy="591009"/>
          </a:xfrm>
          <a:custGeom>
            <a:rect b="b" l="l" r="r" t="t"/>
            <a:pathLst>
              <a:path extrusionOk="0" h="591009" w="1155142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"/>
          <p:cNvSpPr/>
          <p:nvPr/>
        </p:nvSpPr>
        <p:spPr>
          <a:xfrm flipH="1">
            <a:off x="4349052" y="0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"/>
          <p:cNvSpPr/>
          <p:nvPr/>
        </p:nvSpPr>
        <p:spPr>
          <a:xfrm flipH="1">
            <a:off x="0" y="2916245"/>
            <a:ext cx="159741" cy="552996"/>
          </a:xfrm>
          <a:custGeom>
            <a:rect b="b" l="l" r="r" t="t"/>
            <a:pathLst>
              <a:path extrusionOk="0" h="552996" w="159741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"/>
          <p:cNvSpPr/>
          <p:nvPr/>
        </p:nvSpPr>
        <p:spPr>
          <a:xfrm flipH="1">
            <a:off x="0" y="5835649"/>
            <a:ext cx="1548180" cy="1022351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"/>
          <p:cNvSpPr/>
          <p:nvPr/>
        </p:nvSpPr>
        <p:spPr>
          <a:xfrm flipH="1">
            <a:off x="3697761" y="5717906"/>
            <a:ext cx="1771609" cy="1140095"/>
          </a:xfrm>
          <a:custGeom>
            <a:rect b="b" l="l" r="r" t="t"/>
            <a:pathLst>
              <a:path extrusionOk="0" h="1140095" w="1771609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"/>
          <p:cNvSpPr/>
          <p:nvPr/>
        </p:nvSpPr>
        <p:spPr>
          <a:xfrm flipH="1">
            <a:off x="4520513" y="6258756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"/>
          <p:cNvSpPr txBox="1"/>
          <p:nvPr/>
        </p:nvSpPr>
        <p:spPr>
          <a:xfrm>
            <a:off x="6402490" y="2206656"/>
            <a:ext cx="528917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Escuela de informática y telecomunicaciones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gotipo&#10;&#10;Descripción generada automáticamente" id="108" name="Google Shape;10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85673" y="341624"/>
            <a:ext cx="2663375" cy="652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840" y="1408869"/>
            <a:ext cx="4926530" cy="47836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aea9d59199_1_0"/>
          <p:cNvSpPr txBox="1"/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g3aea9d59199_1_0"/>
          <p:cNvSpPr txBox="1"/>
          <p:nvPr>
            <p:ph idx="1" type="subTitle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6" name="Google Shape;116;g3aea9d59199_1_0" title="Video_Promocional_de_Gestión_de_Inventario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67050" y="857250"/>
            <a:ext cx="9657901" cy="543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"/>
          <p:cNvSpPr/>
          <p:nvPr/>
        </p:nvSpPr>
        <p:spPr>
          <a:xfrm>
            <a:off x="9233418" y="242750"/>
            <a:ext cx="2796000" cy="2796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18825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2775" lIns="85550" spcFirstLastPara="1" rIns="85550" wrap="square" tIns="427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84"/>
              <a:buFont typeface="Century Gothic"/>
              <a:buNone/>
            </a:pPr>
            <a:r>
              <a:t/>
            </a:r>
            <a:endParaRPr b="0" i="0" sz="149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"/>
          <p:cNvSpPr txBox="1"/>
          <p:nvPr>
            <p:ph type="ctrTitle"/>
          </p:nvPr>
        </p:nvSpPr>
        <p:spPr>
          <a:xfrm>
            <a:off x="6956175" y="432773"/>
            <a:ext cx="4250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Introduccion</a:t>
            </a:r>
            <a:endParaRPr sz="2000"/>
          </a:p>
        </p:txBody>
      </p:sp>
      <p:sp>
        <p:nvSpPr>
          <p:cNvPr id="123" name="Google Shape;123;p2"/>
          <p:cNvSpPr/>
          <p:nvPr/>
        </p:nvSpPr>
        <p:spPr>
          <a:xfrm>
            <a:off x="11006551" y="5986323"/>
            <a:ext cx="480300" cy="4674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2775" lIns="85550" spcFirstLastPara="1" rIns="85550" wrap="square" tIns="427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84"/>
              <a:buFont typeface="Century Gothic"/>
              <a:buNone/>
            </a:pPr>
            <a:r>
              <a:t/>
            </a:r>
            <a:endParaRPr b="0" i="0" sz="1497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3225" y="1090375"/>
            <a:ext cx="6236326" cy="467725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/>
          <p:nvPr/>
        </p:nvSpPr>
        <p:spPr>
          <a:xfrm flipH="1" rot="10800000">
            <a:off x="6789545" y="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6956175" y="1289793"/>
            <a:ext cx="3977100" cy="6153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b="0" i="0" lang="en-US" sz="2058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Problematica presentada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28" name="Google Shape;128;p2"/>
          <p:cNvSpPr txBox="1"/>
          <p:nvPr/>
        </p:nvSpPr>
        <p:spPr>
          <a:xfrm>
            <a:off x="6956175" y="2869733"/>
            <a:ext cx="3818700" cy="5607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Metodología</a:t>
            </a: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y arquitectura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29" name="Google Shape;129;p2"/>
          <p:cNvSpPr txBox="1"/>
          <p:nvPr/>
        </p:nvSpPr>
        <p:spPr>
          <a:xfrm>
            <a:off x="6965439" y="2134953"/>
            <a:ext cx="3958800" cy="5610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Objetivos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30" name="Google Shape;130;p2"/>
          <p:cNvSpPr txBox="1"/>
          <p:nvPr/>
        </p:nvSpPr>
        <p:spPr>
          <a:xfrm>
            <a:off x="6956187" y="3604232"/>
            <a:ext cx="4050300" cy="5607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Clientes y APIs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31" name="Google Shape;131;p2"/>
          <p:cNvSpPr txBox="1"/>
          <p:nvPr/>
        </p:nvSpPr>
        <p:spPr>
          <a:xfrm>
            <a:off x="6956175" y="4338731"/>
            <a:ext cx="3818700" cy="5607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Normas ISO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Logotipo&#10;&#10;Descripción generada automáticamente" id="132" name="Google Shape;132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3223" y="194824"/>
            <a:ext cx="2663375" cy="652516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"/>
          <p:cNvSpPr txBox="1"/>
          <p:nvPr/>
        </p:nvSpPr>
        <p:spPr>
          <a:xfrm>
            <a:off x="6956187" y="5073230"/>
            <a:ext cx="4093500" cy="560700"/>
          </a:xfrm>
          <a:prstGeom prst="rect">
            <a:avLst/>
          </a:prstGeom>
          <a:solidFill>
            <a:srgbClr val="D5A6BD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Suposiciones y restricciones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38acfe7504_0_23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g338acfe7504_0_23"/>
          <p:cNvSpPr txBox="1"/>
          <p:nvPr>
            <p:ph type="ctrTitle"/>
          </p:nvPr>
        </p:nvSpPr>
        <p:spPr>
          <a:xfrm>
            <a:off x="3469100" y="729025"/>
            <a:ext cx="5792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Problematica presentada</a:t>
            </a:r>
            <a:endParaRPr sz="2000"/>
          </a:p>
        </p:txBody>
      </p:sp>
      <p:sp>
        <p:nvSpPr>
          <p:cNvPr id="140" name="Google Shape;140;g338acfe7504_0_23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g338acfe7504_0_23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g338acfe7504_0_23"/>
          <p:cNvSpPr/>
          <p:nvPr/>
        </p:nvSpPr>
        <p:spPr>
          <a:xfrm flipH="1" rot="10800000">
            <a:off x="6789545" y="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g338acfe7504_0_23"/>
          <p:cNvSpPr txBox="1"/>
          <p:nvPr/>
        </p:nvSpPr>
        <p:spPr>
          <a:xfrm>
            <a:off x="1866550" y="2098600"/>
            <a:ext cx="3254700" cy="6576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Mala organizacion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44" name="Google Shape;144;g338acfe7504_0_23"/>
          <p:cNvSpPr txBox="1"/>
          <p:nvPr/>
        </p:nvSpPr>
        <p:spPr>
          <a:xfrm>
            <a:off x="6268775" y="3739750"/>
            <a:ext cx="4626600" cy="5994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Falta de historial y registros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45" name="Google Shape;145;g338acfe7504_0_23"/>
          <p:cNvSpPr txBox="1"/>
          <p:nvPr/>
        </p:nvSpPr>
        <p:spPr>
          <a:xfrm>
            <a:off x="1812100" y="3675150"/>
            <a:ext cx="3828000" cy="5994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Pérdida de seguimiento 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46" name="Google Shape;146;g338acfe7504_0_23"/>
          <p:cNvSpPr txBox="1"/>
          <p:nvPr/>
        </p:nvSpPr>
        <p:spPr>
          <a:xfrm>
            <a:off x="5368100" y="2098600"/>
            <a:ext cx="5527200" cy="657600"/>
          </a:xfrm>
          <a:prstGeom prst="rect">
            <a:avLst/>
          </a:prstGeom>
          <a:solidFill>
            <a:srgbClr val="D5A6BD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Gestión de inventario escaso o nulo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Logotipo&#10;&#10;Descripción generada automáticamente" id="147" name="Google Shape;147;g338acfe7504_0_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6848" y="205324"/>
            <a:ext cx="2663375" cy="652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aa1e545030_0_0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g3aa1e545030_0_0"/>
          <p:cNvSpPr txBox="1"/>
          <p:nvPr>
            <p:ph type="ctrTitle"/>
          </p:nvPr>
        </p:nvSpPr>
        <p:spPr>
          <a:xfrm>
            <a:off x="3002100" y="547400"/>
            <a:ext cx="5792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Objetivos</a:t>
            </a:r>
            <a:endParaRPr sz="2000"/>
          </a:p>
        </p:txBody>
      </p:sp>
      <p:sp>
        <p:nvSpPr>
          <p:cNvPr id="154" name="Google Shape;154;g3aa1e545030_0_0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g3aa1e545030_0_0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aa1e545030_0_0"/>
          <p:cNvSpPr/>
          <p:nvPr/>
        </p:nvSpPr>
        <p:spPr>
          <a:xfrm flipH="1" rot="10800000">
            <a:off x="6789545" y="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aa1e545030_0_0"/>
          <p:cNvSpPr txBox="1"/>
          <p:nvPr/>
        </p:nvSpPr>
        <p:spPr>
          <a:xfrm>
            <a:off x="1638725" y="2167688"/>
            <a:ext cx="3254700" cy="6576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Objetivo general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58" name="Google Shape;158;g3aa1e545030_0_0"/>
          <p:cNvSpPr txBox="1"/>
          <p:nvPr/>
        </p:nvSpPr>
        <p:spPr>
          <a:xfrm>
            <a:off x="6473375" y="2704638"/>
            <a:ext cx="4811400" cy="20604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-Implementar Firebase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-Integrar API gemini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-Carga de CSV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-Reducir tiempos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-Facilitar toma 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decisiones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59" name="Google Shape;159;g3aa1e545030_0_0"/>
          <p:cNvSpPr txBox="1"/>
          <p:nvPr/>
        </p:nvSpPr>
        <p:spPr>
          <a:xfrm>
            <a:off x="1638725" y="2825288"/>
            <a:ext cx="3828000" cy="17190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-Desarrollar sistema online gestion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Asistente virtual 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-Automatizar y optimizar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60" name="Google Shape;160;g3aa1e545030_0_0"/>
          <p:cNvSpPr txBox="1"/>
          <p:nvPr/>
        </p:nvSpPr>
        <p:spPr>
          <a:xfrm>
            <a:off x="6473375" y="2047038"/>
            <a:ext cx="3344700" cy="657600"/>
          </a:xfrm>
          <a:prstGeom prst="rect">
            <a:avLst/>
          </a:prstGeom>
          <a:solidFill>
            <a:srgbClr val="D5A6BD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Objetivos especificos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Logotipo&#10;&#10;Descripción generada automáticamente" id="161" name="Google Shape;161;g3aa1e545030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6848" y="205324"/>
            <a:ext cx="2663375" cy="652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aa1e545030_0_13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aa1e545030_0_13"/>
          <p:cNvSpPr txBox="1"/>
          <p:nvPr>
            <p:ph type="ctrTitle"/>
          </p:nvPr>
        </p:nvSpPr>
        <p:spPr>
          <a:xfrm>
            <a:off x="3002100" y="547400"/>
            <a:ext cx="5792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Metodologia</a:t>
            </a:r>
            <a:endParaRPr sz="2000"/>
          </a:p>
        </p:txBody>
      </p:sp>
      <p:sp>
        <p:nvSpPr>
          <p:cNvPr id="168" name="Google Shape;168;g3aa1e545030_0_13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g3aa1e545030_0_13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g3aa1e545030_0_13"/>
          <p:cNvSpPr/>
          <p:nvPr/>
        </p:nvSpPr>
        <p:spPr>
          <a:xfrm flipH="1" rot="10800000">
            <a:off x="6789545" y="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g3aa1e545030_0_13"/>
          <p:cNvSpPr txBox="1"/>
          <p:nvPr/>
        </p:nvSpPr>
        <p:spPr>
          <a:xfrm>
            <a:off x="4468650" y="1383463"/>
            <a:ext cx="3254700" cy="6576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Metodologia Agil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72" name="Google Shape;172;g3aa1e545030_0_13"/>
          <p:cNvSpPr txBox="1"/>
          <p:nvPr/>
        </p:nvSpPr>
        <p:spPr>
          <a:xfrm>
            <a:off x="1548175" y="2449797"/>
            <a:ext cx="3828000" cy="1368600"/>
          </a:xfrm>
          <a:prstGeom prst="rect">
            <a:avLst/>
          </a:prstGeom>
          <a:solidFill>
            <a:srgbClr val="F9CB9C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Estructura flexible, itineraria y orientada a entregas continuas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Logotipo&#10;&#10;Descripción generada automáticamente" id="173" name="Google Shape;173;g3aa1e545030_0_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6848" y="205324"/>
            <a:ext cx="2663375" cy="652516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g3aa1e545030_0_13"/>
          <p:cNvSpPr txBox="1"/>
          <p:nvPr/>
        </p:nvSpPr>
        <p:spPr>
          <a:xfrm>
            <a:off x="7016275" y="2569496"/>
            <a:ext cx="3828000" cy="1129200"/>
          </a:xfrm>
          <a:prstGeom prst="rect">
            <a:avLst/>
          </a:prstGeom>
          <a:solidFill>
            <a:srgbClr val="D5A6BD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Sprints con incremento del producto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75" name="Google Shape;175;g3aa1e545030_0_13"/>
          <p:cNvSpPr txBox="1"/>
          <p:nvPr/>
        </p:nvSpPr>
        <p:spPr>
          <a:xfrm>
            <a:off x="1789825" y="4585625"/>
            <a:ext cx="4687200" cy="1368600"/>
          </a:xfrm>
          <a:prstGeom prst="rect">
            <a:avLst/>
          </a:prstGeom>
          <a:solidFill>
            <a:srgbClr val="A4C2F4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Colaboración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entre desarrolladores, comprension compartida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76" name="Google Shape;176;g3aa1e545030_0_13"/>
          <p:cNvSpPr txBox="1"/>
          <p:nvPr/>
        </p:nvSpPr>
        <p:spPr>
          <a:xfrm>
            <a:off x="7016275" y="4193895"/>
            <a:ext cx="3828000" cy="10044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Incremento calidad de producto final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ae576175f6_0_2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g3ae576175f6_0_2"/>
          <p:cNvSpPr txBox="1"/>
          <p:nvPr>
            <p:ph type="ctrTitle"/>
          </p:nvPr>
        </p:nvSpPr>
        <p:spPr>
          <a:xfrm>
            <a:off x="2933725" y="800400"/>
            <a:ext cx="62127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71428"/>
              <a:buFont typeface="Century Gothic"/>
              <a:buNone/>
            </a:pPr>
            <a:r>
              <a:rPr lang="en-US" sz="3500"/>
              <a:t>Arquitectura</a:t>
            </a:r>
            <a:endParaRPr sz="3500"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71428"/>
              <a:buFont typeface="Century Gothic"/>
              <a:buNone/>
            </a:pPr>
            <a:r>
              <a:rPr lang="en-US" sz="3500"/>
              <a:t>Modelo logico base de datos</a:t>
            </a:r>
            <a:endParaRPr sz="35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71428"/>
              <a:buFont typeface="Century Gothic"/>
              <a:buNone/>
            </a:pPr>
            <a:r>
              <a:t/>
            </a:r>
            <a:endParaRPr sz="3500"/>
          </a:p>
        </p:txBody>
      </p:sp>
      <p:sp>
        <p:nvSpPr>
          <p:cNvPr id="183" name="Google Shape;183;g3ae576175f6_0_2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g3ae576175f6_0_2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tipo&#10;&#10;Descripción generada automáticamente" id="185" name="Google Shape;185;g3ae576175f6_0_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6848" y="205324"/>
            <a:ext cx="2663375" cy="652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g3ae576175f6_0_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12750" y="1080250"/>
            <a:ext cx="7740349" cy="529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5c762ae955_0_23"/>
          <p:cNvSpPr/>
          <p:nvPr/>
        </p:nvSpPr>
        <p:spPr>
          <a:xfrm>
            <a:off x="0" y="-12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g35c762ae955_0_23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g35c762ae955_0_23"/>
          <p:cNvSpPr txBox="1"/>
          <p:nvPr>
            <p:ph type="ctrTitle"/>
          </p:nvPr>
        </p:nvSpPr>
        <p:spPr>
          <a:xfrm>
            <a:off x="3927400" y="432775"/>
            <a:ext cx="5699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Clientes</a:t>
            </a:r>
            <a:endParaRPr sz="2000"/>
          </a:p>
        </p:txBody>
      </p:sp>
      <p:sp>
        <p:nvSpPr>
          <p:cNvPr id="194" name="Google Shape;194;g35c762ae955_0_23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g35c762ae955_0_23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g35c762ae955_0_23"/>
          <p:cNvSpPr/>
          <p:nvPr/>
        </p:nvSpPr>
        <p:spPr>
          <a:xfrm flipH="1" rot="10800000">
            <a:off x="2840420" y="50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g35c762ae955_0_23"/>
          <p:cNvSpPr txBox="1"/>
          <p:nvPr/>
        </p:nvSpPr>
        <p:spPr>
          <a:xfrm>
            <a:off x="1212725" y="2418700"/>
            <a:ext cx="3327900" cy="6576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Dueños de negocios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8" name="Google Shape;198;g35c762ae955_0_23"/>
          <p:cNvSpPr txBox="1"/>
          <p:nvPr/>
        </p:nvSpPr>
        <p:spPr>
          <a:xfrm>
            <a:off x="1212725" y="4123530"/>
            <a:ext cx="3327900" cy="5994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Almacenes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9" name="Google Shape;199;g35c762ae955_0_23"/>
          <p:cNvSpPr txBox="1"/>
          <p:nvPr/>
        </p:nvSpPr>
        <p:spPr>
          <a:xfrm>
            <a:off x="1212725" y="3332200"/>
            <a:ext cx="3327900" cy="5994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Pymes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200" name="Google Shape;200;g35c762ae955_0_23" title="descarga (3)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56184" y="1933184"/>
            <a:ext cx="3702300" cy="3702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tipo&#10;&#10;Descripción generada automáticamente" id="201" name="Google Shape;201;g35c762ae955_0_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9498" y="435312"/>
            <a:ext cx="2663375" cy="652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8dbc7f2c22_0_7"/>
          <p:cNvSpPr/>
          <p:nvPr/>
        </p:nvSpPr>
        <p:spPr>
          <a:xfrm>
            <a:off x="0" y="-12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g38dbc7f2c22_0_7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g38dbc7f2c22_0_7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g38dbc7f2c22_0_7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g38dbc7f2c22_0_7"/>
          <p:cNvSpPr/>
          <p:nvPr/>
        </p:nvSpPr>
        <p:spPr>
          <a:xfrm flipH="1" rot="10800000">
            <a:off x="2840420" y="50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g38dbc7f2c22_0_7"/>
          <p:cNvSpPr txBox="1"/>
          <p:nvPr>
            <p:ph type="ctrTitle"/>
          </p:nvPr>
        </p:nvSpPr>
        <p:spPr>
          <a:xfrm>
            <a:off x="4954100" y="-28675"/>
            <a:ext cx="5699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APIs</a:t>
            </a:r>
            <a:endParaRPr sz="2000"/>
          </a:p>
        </p:txBody>
      </p:sp>
      <p:pic>
        <p:nvPicPr>
          <p:cNvPr id="212" name="Google Shape;212;g38dbc7f2c22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1975" y="3864800"/>
            <a:ext cx="3825652" cy="10044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213" name="Google Shape;213;g38dbc7f2c22_0_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1975" y="1873450"/>
            <a:ext cx="3592524" cy="11429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214" name="Google Shape;214;g38dbc7f2c22_0_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46829" y="1538275"/>
            <a:ext cx="6037952" cy="4015226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descr="Logotipo&#10;&#10;Descripción generada automáticamente" id="215" name="Google Shape;215;g38dbc7f2c22_0_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2673" y="299699"/>
            <a:ext cx="2663375" cy="652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8dbc7f2c22_0_2"/>
          <p:cNvSpPr txBox="1"/>
          <p:nvPr>
            <p:ph type="ctrTitle"/>
          </p:nvPr>
        </p:nvSpPr>
        <p:spPr>
          <a:xfrm>
            <a:off x="3927400" y="432775"/>
            <a:ext cx="5699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Normas ISO</a:t>
            </a:r>
            <a:endParaRPr sz="2000"/>
          </a:p>
        </p:txBody>
      </p:sp>
      <p:pic>
        <p:nvPicPr>
          <p:cNvPr descr="Logotipo&#10;&#10;Descripción generada automáticamente" id="221" name="Google Shape;221;g38dbc7f2c22_0_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9248" y="257724"/>
            <a:ext cx="2663375" cy="652516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g38dbc7f2c22_0_2"/>
          <p:cNvSpPr txBox="1"/>
          <p:nvPr/>
        </p:nvSpPr>
        <p:spPr>
          <a:xfrm>
            <a:off x="928000" y="1662225"/>
            <a:ext cx="5699400" cy="5991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Seguridad de la 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información 27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.001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3" name="Google Shape;223;g38dbc7f2c22_0_2"/>
          <p:cNvSpPr txBox="1"/>
          <p:nvPr/>
        </p:nvSpPr>
        <p:spPr>
          <a:xfrm>
            <a:off x="7359700" y="2261625"/>
            <a:ext cx="3702300" cy="12213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-Usabilidad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-Seguridad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-Rendimiento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4" name="Google Shape;224;g38dbc7f2c22_0_2"/>
          <p:cNvSpPr txBox="1"/>
          <p:nvPr/>
        </p:nvSpPr>
        <p:spPr>
          <a:xfrm>
            <a:off x="7359700" y="1662075"/>
            <a:ext cx="4362900" cy="5994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Calidad de 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software 25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.010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5" name="Google Shape;225;g38dbc7f2c22_0_2"/>
          <p:cNvSpPr txBox="1"/>
          <p:nvPr/>
        </p:nvSpPr>
        <p:spPr>
          <a:xfrm>
            <a:off x="7359700" y="3482919"/>
            <a:ext cx="3702300" cy="17130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-Evaluar cargas de tablas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-Revision de bugs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-Pruebas de 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regresión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6" name="Google Shape;226;g38dbc7f2c22_0_2"/>
          <p:cNvSpPr txBox="1"/>
          <p:nvPr/>
        </p:nvSpPr>
        <p:spPr>
          <a:xfrm>
            <a:off x="928000" y="2261625"/>
            <a:ext cx="4362900" cy="12213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-Control de acceso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Gestión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de riesgo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Protección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de datos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7" name="Google Shape;227;g38dbc7f2c22_0_2"/>
          <p:cNvSpPr txBox="1"/>
          <p:nvPr/>
        </p:nvSpPr>
        <p:spPr>
          <a:xfrm>
            <a:off x="928000" y="3483225"/>
            <a:ext cx="3287400" cy="15606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-FireBase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-Roles y permisos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-Procesamiento de archivos 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a7db8b3d50_1_22"/>
          <p:cNvSpPr txBox="1"/>
          <p:nvPr>
            <p:ph type="ctrTitle"/>
          </p:nvPr>
        </p:nvSpPr>
        <p:spPr>
          <a:xfrm>
            <a:off x="3246300" y="633300"/>
            <a:ext cx="5699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71428"/>
              <a:buFont typeface="Century Gothic"/>
              <a:buNone/>
            </a:pPr>
            <a:r>
              <a:rPr lang="en-US" sz="3500"/>
              <a:t>Suposiciones y restricciones</a:t>
            </a:r>
            <a:endParaRPr sz="2000"/>
          </a:p>
        </p:txBody>
      </p:sp>
      <p:pic>
        <p:nvPicPr>
          <p:cNvPr descr="Logotipo&#10;&#10;Descripción generada automáticamente" id="233" name="Google Shape;233;g3a7db8b3d50_1_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9248" y="257724"/>
            <a:ext cx="2663375" cy="652516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g3a7db8b3d50_1_22"/>
          <p:cNvSpPr txBox="1"/>
          <p:nvPr/>
        </p:nvSpPr>
        <p:spPr>
          <a:xfrm>
            <a:off x="1394675" y="2052150"/>
            <a:ext cx="4488000" cy="27537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-Disponibilidad de internet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-Conocimiento 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básico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-Acceso de dispositivos compatibles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Integración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funcional de APIs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-Datos en plantilla CSV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5" name="Google Shape;235;g3a7db8b3d50_1_22"/>
          <p:cNvSpPr txBox="1"/>
          <p:nvPr/>
        </p:nvSpPr>
        <p:spPr>
          <a:xfrm>
            <a:off x="6116050" y="2052200"/>
            <a:ext cx="5554500" cy="27537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-Dependencias de 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servicios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externos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Limitación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presupuesto y recursos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-Alcance a negocios pequeños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-Capacidad de almacenamiento y nube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-Privacidad y seguridad de datos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5c762ae955_0_68"/>
          <p:cNvSpPr txBox="1"/>
          <p:nvPr>
            <p:ph type="ctrTitle"/>
          </p:nvPr>
        </p:nvSpPr>
        <p:spPr>
          <a:xfrm>
            <a:off x="2933875" y="-416550"/>
            <a:ext cx="7028700" cy="142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entury Gothic"/>
              <a:buNone/>
            </a:pPr>
            <a:r>
              <a:rPr lang="en-US" sz="4000"/>
              <a:t>Conclusiones generales</a:t>
            </a:r>
            <a:endParaRPr sz="4000"/>
          </a:p>
        </p:txBody>
      </p:sp>
      <p:sp>
        <p:nvSpPr>
          <p:cNvPr id="241" name="Google Shape;241;g35c762ae955_0_68"/>
          <p:cNvSpPr/>
          <p:nvPr/>
        </p:nvSpPr>
        <p:spPr>
          <a:xfrm flipH="1">
            <a:off x="530529" y="1"/>
            <a:ext cx="1155142" cy="591009"/>
          </a:xfrm>
          <a:custGeom>
            <a:rect b="b" l="l" r="r" t="t"/>
            <a:pathLst>
              <a:path extrusionOk="0" h="591009" w="1155142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g35c762ae955_0_68"/>
          <p:cNvSpPr/>
          <p:nvPr/>
        </p:nvSpPr>
        <p:spPr>
          <a:xfrm flipH="1" rot="5400000">
            <a:off x="10843531" y="2080531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g35c762ae955_0_68"/>
          <p:cNvSpPr/>
          <p:nvPr/>
        </p:nvSpPr>
        <p:spPr>
          <a:xfrm flipH="1">
            <a:off x="0" y="2916245"/>
            <a:ext cx="159741" cy="552996"/>
          </a:xfrm>
          <a:custGeom>
            <a:rect b="b" l="l" r="r" t="t"/>
            <a:pathLst>
              <a:path extrusionOk="0" h="552996" w="159741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g35c762ae955_0_68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g35c762ae955_0_68"/>
          <p:cNvSpPr/>
          <p:nvPr/>
        </p:nvSpPr>
        <p:spPr>
          <a:xfrm flipH="1">
            <a:off x="9775005" y="5717905"/>
            <a:ext cx="1771609" cy="1140095"/>
          </a:xfrm>
          <a:custGeom>
            <a:rect b="b" l="l" r="r" t="t"/>
            <a:pathLst>
              <a:path extrusionOk="0" h="1140095" w="1771609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g35c762ae955_0_68"/>
          <p:cNvSpPr/>
          <p:nvPr/>
        </p:nvSpPr>
        <p:spPr>
          <a:xfrm flipH="1">
            <a:off x="10330470" y="625875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7" name="Google Shape;247;g35c762ae955_0_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5020" y="1356113"/>
            <a:ext cx="7315206" cy="51009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hapesVTI">
  <a:themeElements>
    <a:clrScheme name="AnalogousFromDarkSeedLeftStep">
      <a:dk1>
        <a:srgbClr val="000000"/>
      </a:dk1>
      <a:lt1>
        <a:srgbClr val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2023-05-11T19:58:58Z</dcterms:created>
  <dc:creator>Acer</dc:creator>
</cp:coreProperties>
</file>