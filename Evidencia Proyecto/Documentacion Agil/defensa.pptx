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6" r:id="rId12"/>
    <p:sldId id="267" r:id="rId13"/>
  </p:sldIdLst>
  <p:sldSz cx="12192000" cy="6858000"/>
  <p:notesSz cx="6858000" cy="9144000"/>
  <p:embeddedFontLst>
    <p:embeddedFont>
      <p:font typeface="Century Gothic" panose="020B0502020202020204" pitchFamily="3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1" roundtripDataSignature="AMtx7miXO6EiUSWz26OaoG+RJxq5g/f0Y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customschemas.google.com/relationships/presentationmetadata" Target="meta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6" name="Google Shape;9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ea9d59199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aea9d59199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9" name="Google Shape;11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38acfe7504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6" name="Google Shape;136;g338acfe7504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aa1e54503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0" name="Google Shape;150;g3aa1e54503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aa1e545030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4" name="Google Shape;164;g3aa1e545030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ae576175f6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9" name="Google Shape;179;g3ae576175f6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5c762ae955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9" name="Google Shape;189;g35c762ae955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8dbc7f2c2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8dbc7f2c2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8dbc7f2c22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04" name="Google Shape;204;g38dbc7f2c22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a7db8b3d50_1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3a7db8b3d50_1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5c762ae955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8" name="Google Shape;238;g35c762ae955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  <p:sp>
        <p:nvSpPr>
          <p:cNvPr id="17" name="Google Shape;17;p9"/>
          <p:cNvSpPr/>
          <p:nvPr/>
        </p:nvSpPr>
        <p:spPr>
          <a:xfrm>
            <a:off x="10208695" y="1"/>
            <a:ext cx="1135066" cy="477997"/>
          </a:xfrm>
          <a:custGeom>
            <a:avLst/>
            <a:gdLst/>
            <a:ahLst/>
            <a:cxnLst/>
            <a:rect l="l" t="t" r="r" b="b"/>
            <a:pathLst>
              <a:path w="1135066" h="477997" extrusionOk="0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9"/>
          <p:cNvSpPr/>
          <p:nvPr/>
        </p:nvSpPr>
        <p:spPr>
          <a:xfrm flipH="1">
            <a:off x="555710" y="1064829"/>
            <a:ext cx="4083433" cy="4083433"/>
          </a:xfrm>
          <a:prstGeom prst="arc">
            <a:avLst>
              <a:gd name="adj1" fmla="val 16200000"/>
              <a:gd name="adj2" fmla="val 0"/>
            </a:avLst>
          </a:prstGeom>
          <a:noFill/>
          <a:ln w="127000" cap="rnd" cmpd="sng">
            <a:solidFill>
              <a:schemeClr val="accent4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1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1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  <p:sp>
        <p:nvSpPr>
          <p:cNvPr id="25" name="Google Shape;25;p11"/>
          <p:cNvSpPr/>
          <p:nvPr/>
        </p:nvSpPr>
        <p:spPr>
          <a:xfrm>
            <a:off x="10208695" y="1"/>
            <a:ext cx="1135066" cy="477997"/>
          </a:xfrm>
          <a:custGeom>
            <a:avLst/>
            <a:gdLst/>
            <a:ahLst/>
            <a:cxnLst/>
            <a:rect l="l" t="t" r="r" b="b"/>
            <a:pathLst>
              <a:path w="1135066" h="477997" extrusionOk="0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1"/>
          <p:cNvSpPr/>
          <p:nvPr/>
        </p:nvSpPr>
        <p:spPr>
          <a:xfrm flipH="1">
            <a:off x="555710" y="1064829"/>
            <a:ext cx="4083433" cy="4083433"/>
          </a:xfrm>
          <a:prstGeom prst="arc">
            <a:avLst>
              <a:gd name="adj1" fmla="val 16200000"/>
              <a:gd name="adj2" fmla="val 0"/>
            </a:avLst>
          </a:prstGeom>
          <a:noFill/>
          <a:ln w="127000" cap="rnd" cmpd="sng">
            <a:solidFill>
              <a:schemeClr val="accent4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12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" name="Google Shape;3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  <p:sp>
        <p:nvSpPr>
          <p:cNvPr id="34" name="Google Shape;34;p12"/>
          <p:cNvSpPr/>
          <p:nvPr/>
        </p:nvSpPr>
        <p:spPr>
          <a:xfrm rot="-5400000">
            <a:off x="-388933" y="4841194"/>
            <a:ext cx="1737401" cy="959536"/>
          </a:xfrm>
          <a:custGeom>
            <a:avLst/>
            <a:gdLst/>
            <a:ahLst/>
            <a:cxnLst/>
            <a:rect l="l" t="t" r="r" b="b"/>
            <a:pathLst>
              <a:path w="1737401" h="959536" extrusionOk="0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12"/>
          <p:cNvSpPr/>
          <p:nvPr/>
        </p:nvSpPr>
        <p:spPr>
          <a:xfrm>
            <a:off x="10494433" y="2"/>
            <a:ext cx="849328" cy="357668"/>
          </a:xfrm>
          <a:custGeom>
            <a:avLst/>
            <a:gdLst/>
            <a:ahLst/>
            <a:cxnLst/>
            <a:rect l="l" t="t" r="r" b="b"/>
            <a:pathLst>
              <a:path w="1135066" h="477997" extrusionOk="0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3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3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13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13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3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  <p:sp>
        <p:nvSpPr>
          <p:cNvPr id="45" name="Google Shape;45;p13"/>
          <p:cNvSpPr/>
          <p:nvPr/>
        </p:nvSpPr>
        <p:spPr>
          <a:xfrm rot="-5400000">
            <a:off x="-388933" y="4841194"/>
            <a:ext cx="1737401" cy="959536"/>
          </a:xfrm>
          <a:custGeom>
            <a:avLst/>
            <a:gdLst/>
            <a:ahLst/>
            <a:cxnLst/>
            <a:rect l="l" t="t" r="r" b="b"/>
            <a:pathLst>
              <a:path w="1737401" h="959536" extrusionOk="0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13"/>
          <p:cNvSpPr/>
          <p:nvPr/>
        </p:nvSpPr>
        <p:spPr>
          <a:xfrm>
            <a:off x="10494433" y="2"/>
            <a:ext cx="849328" cy="357668"/>
          </a:xfrm>
          <a:custGeom>
            <a:avLst/>
            <a:gdLst/>
            <a:ahLst/>
            <a:cxnLst/>
            <a:rect l="l" t="t" r="r" b="b"/>
            <a:pathLst>
              <a:path w="1135066" h="477997" extrusionOk="0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  <p:sp>
        <p:nvSpPr>
          <p:cNvPr id="52" name="Google Shape;52;p14"/>
          <p:cNvSpPr/>
          <p:nvPr/>
        </p:nvSpPr>
        <p:spPr>
          <a:xfrm rot="-5400000">
            <a:off x="-388933" y="4841194"/>
            <a:ext cx="1737401" cy="959536"/>
          </a:xfrm>
          <a:custGeom>
            <a:avLst/>
            <a:gdLst/>
            <a:ahLst/>
            <a:cxnLst/>
            <a:rect l="l" t="t" r="r" b="b"/>
            <a:pathLst>
              <a:path w="1737401" h="959536" extrusionOk="0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14"/>
          <p:cNvSpPr/>
          <p:nvPr/>
        </p:nvSpPr>
        <p:spPr>
          <a:xfrm>
            <a:off x="10494433" y="2"/>
            <a:ext cx="849328" cy="357668"/>
          </a:xfrm>
          <a:custGeom>
            <a:avLst/>
            <a:gdLst/>
            <a:ahLst/>
            <a:cxnLst/>
            <a:rect l="l" t="t" r="r" b="b"/>
            <a:pathLst>
              <a:path w="1135066" h="477997" extrusionOk="0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  <p:sp>
        <p:nvSpPr>
          <p:cNvPr id="58" name="Google Shape;58;p15"/>
          <p:cNvSpPr/>
          <p:nvPr/>
        </p:nvSpPr>
        <p:spPr>
          <a:xfrm rot="-5400000">
            <a:off x="-388933" y="4841194"/>
            <a:ext cx="1737401" cy="959536"/>
          </a:xfrm>
          <a:custGeom>
            <a:avLst/>
            <a:gdLst/>
            <a:ahLst/>
            <a:cxnLst/>
            <a:rect l="l" t="t" r="r" b="b"/>
            <a:pathLst>
              <a:path w="1737401" h="959536" extrusionOk="0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5"/>
          <p:cNvSpPr/>
          <p:nvPr/>
        </p:nvSpPr>
        <p:spPr>
          <a:xfrm>
            <a:off x="10494433" y="2"/>
            <a:ext cx="849328" cy="357668"/>
          </a:xfrm>
          <a:custGeom>
            <a:avLst/>
            <a:gdLst/>
            <a:ahLst/>
            <a:cxnLst/>
            <a:rect l="l" t="t" r="r" b="b"/>
            <a:pathLst>
              <a:path w="1135066" h="477997" extrusionOk="0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entury Gothic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  <p:sp>
        <p:nvSpPr>
          <p:cNvPr id="67" name="Google Shape;67;p16"/>
          <p:cNvSpPr/>
          <p:nvPr/>
        </p:nvSpPr>
        <p:spPr>
          <a:xfrm rot="-5400000">
            <a:off x="-388933" y="4841194"/>
            <a:ext cx="1737401" cy="959536"/>
          </a:xfrm>
          <a:custGeom>
            <a:avLst/>
            <a:gdLst/>
            <a:ahLst/>
            <a:cxnLst/>
            <a:rect l="l" t="t" r="r" b="b"/>
            <a:pathLst>
              <a:path w="1737401" h="959536" extrusionOk="0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6"/>
          <p:cNvSpPr/>
          <p:nvPr/>
        </p:nvSpPr>
        <p:spPr>
          <a:xfrm>
            <a:off x="10494433" y="2"/>
            <a:ext cx="849328" cy="357668"/>
          </a:xfrm>
          <a:custGeom>
            <a:avLst/>
            <a:gdLst/>
            <a:ahLst/>
            <a:cxnLst/>
            <a:rect l="l" t="t" r="r" b="b"/>
            <a:pathLst>
              <a:path w="1135066" h="477997" extrusionOk="0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entury Gothic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7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1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  <p:sp>
        <p:nvSpPr>
          <p:cNvPr id="76" name="Google Shape;76;p17"/>
          <p:cNvSpPr/>
          <p:nvPr/>
        </p:nvSpPr>
        <p:spPr>
          <a:xfrm rot="-5400000">
            <a:off x="-388933" y="4841194"/>
            <a:ext cx="1737401" cy="959536"/>
          </a:xfrm>
          <a:custGeom>
            <a:avLst/>
            <a:gdLst/>
            <a:ahLst/>
            <a:cxnLst/>
            <a:rect l="l" t="t" r="r" b="b"/>
            <a:pathLst>
              <a:path w="1737401" h="959536" extrusionOk="0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7"/>
          <p:cNvSpPr/>
          <p:nvPr/>
        </p:nvSpPr>
        <p:spPr>
          <a:xfrm>
            <a:off x="10494433" y="2"/>
            <a:ext cx="849328" cy="357668"/>
          </a:xfrm>
          <a:custGeom>
            <a:avLst/>
            <a:gdLst/>
            <a:ahLst/>
            <a:cxnLst/>
            <a:rect l="l" t="t" r="r" b="b"/>
            <a:pathLst>
              <a:path w="1135066" h="477997" extrusionOk="0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  <p:sp>
        <p:nvSpPr>
          <p:cNvPr id="84" name="Google Shape;84;p18"/>
          <p:cNvSpPr/>
          <p:nvPr/>
        </p:nvSpPr>
        <p:spPr>
          <a:xfrm rot="-5400000">
            <a:off x="-388933" y="4841194"/>
            <a:ext cx="1737401" cy="959536"/>
          </a:xfrm>
          <a:custGeom>
            <a:avLst/>
            <a:gdLst/>
            <a:ahLst/>
            <a:cxnLst/>
            <a:rect l="l" t="t" r="r" b="b"/>
            <a:pathLst>
              <a:path w="1737401" h="959536" extrusionOk="0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8"/>
          <p:cNvSpPr/>
          <p:nvPr/>
        </p:nvSpPr>
        <p:spPr>
          <a:xfrm>
            <a:off x="10494433" y="2"/>
            <a:ext cx="849328" cy="357668"/>
          </a:xfrm>
          <a:custGeom>
            <a:avLst/>
            <a:gdLst/>
            <a:ahLst/>
            <a:cxnLst/>
            <a:rect l="l" t="t" r="r" b="b"/>
            <a:pathLst>
              <a:path w="1135066" h="477997" extrusionOk="0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  <p:sp>
        <p:nvSpPr>
          <p:cNvPr id="92" name="Google Shape;92;p19"/>
          <p:cNvSpPr/>
          <p:nvPr/>
        </p:nvSpPr>
        <p:spPr>
          <a:xfrm rot="-5400000">
            <a:off x="-388933" y="4841194"/>
            <a:ext cx="1737401" cy="959536"/>
          </a:xfrm>
          <a:custGeom>
            <a:avLst/>
            <a:gdLst/>
            <a:ahLst/>
            <a:cxnLst/>
            <a:rect l="l" t="t" r="r" b="b"/>
            <a:pathLst>
              <a:path w="1737401" h="959536" extrusionOk="0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9"/>
          <p:cNvSpPr/>
          <p:nvPr/>
        </p:nvSpPr>
        <p:spPr>
          <a:xfrm>
            <a:off x="10494433" y="2"/>
            <a:ext cx="849328" cy="357668"/>
          </a:xfrm>
          <a:custGeom>
            <a:avLst/>
            <a:gdLst/>
            <a:ahLst/>
            <a:cxnLst/>
            <a:rect l="l" t="t" r="r" b="b"/>
            <a:pathLst>
              <a:path w="1135066" h="477997" extrusionOk="0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entury Gothic"/>
              <a:buNone/>
              <a:defRPr sz="32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9" name="Google Shape;9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10" name="Google Shape;1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drive.google.com/file/d/1gkYWLw9hlR2EeGifQA9hDPwdS85mo08R/view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"/>
          <p:cNvSpPr txBox="1">
            <a:spLocks noGrp="1"/>
          </p:cNvSpPr>
          <p:nvPr>
            <p:ph type="ctrTitle"/>
          </p:nvPr>
        </p:nvSpPr>
        <p:spPr>
          <a:xfrm>
            <a:off x="6194715" y="482906"/>
            <a:ext cx="5910330" cy="14465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entury Gothic"/>
              <a:buNone/>
            </a:pPr>
            <a:r>
              <a:rPr lang="en-US" sz="4800" dirty="0" err="1"/>
              <a:t>Repleno</a:t>
            </a:r>
            <a:endParaRPr sz="4800" dirty="0"/>
          </a:p>
        </p:txBody>
      </p:sp>
      <p:sp>
        <p:nvSpPr>
          <p:cNvPr id="100" name="Google Shape;100;p1"/>
          <p:cNvSpPr txBox="1">
            <a:spLocks noGrp="1"/>
          </p:cNvSpPr>
          <p:nvPr>
            <p:ph type="subTitle" idx="1"/>
          </p:nvPr>
        </p:nvSpPr>
        <p:spPr>
          <a:xfrm>
            <a:off x="6086445" y="3156434"/>
            <a:ext cx="6018600" cy="32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-US" sz="2000" dirty="0" err="1">
                <a:latin typeface="Century Gothic"/>
                <a:ea typeface="Century Gothic"/>
                <a:cs typeface="Century Gothic"/>
                <a:sym typeface="Century Gothic"/>
              </a:rPr>
              <a:t>Nombres</a:t>
            </a:r>
            <a:r>
              <a:rPr lang="en-US" sz="2000" dirty="0">
                <a:latin typeface="Century Gothic"/>
                <a:ea typeface="Century Gothic"/>
                <a:cs typeface="Century Gothic"/>
                <a:sym typeface="Century Gothic"/>
              </a:rPr>
              <a:t>:</a:t>
            </a:r>
            <a:r>
              <a:rPr lang="en-US" sz="2000" dirty="0"/>
              <a:t> </a:t>
            </a:r>
            <a:r>
              <a:rPr lang="en-US" sz="2000" dirty="0"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-US" sz="2000" dirty="0"/>
              <a:t>S</a:t>
            </a:r>
            <a:r>
              <a:rPr lang="en-US" sz="2000" dirty="0">
                <a:latin typeface="Century Gothic"/>
                <a:ea typeface="Century Gothic"/>
                <a:cs typeface="Century Gothic"/>
                <a:sym typeface="Century Gothic"/>
              </a:rPr>
              <a:t>ebastian Martinez, </a:t>
            </a:r>
            <a:r>
              <a:rPr lang="en-US" sz="2000" dirty="0"/>
              <a:t>Matias Ordenes, Jordy Lizana</a:t>
            </a:r>
            <a:endParaRPr sz="2000" dirty="0"/>
          </a:p>
          <a:p>
            <a:pPr marL="457200" lvl="0" indent="-355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●"/>
            </a:pPr>
            <a:r>
              <a:rPr lang="en-US" sz="2000" dirty="0">
                <a:latin typeface="Century Gothic"/>
                <a:ea typeface="Century Gothic"/>
                <a:cs typeface="Century Gothic"/>
                <a:sym typeface="Century Gothic"/>
              </a:rPr>
              <a:t>Fecha:10-</a:t>
            </a:r>
            <a:r>
              <a:rPr lang="en-US" sz="2000" dirty="0"/>
              <a:t>12</a:t>
            </a:r>
            <a:r>
              <a:rPr lang="en-US" sz="2000" dirty="0">
                <a:latin typeface="Century Gothic"/>
                <a:ea typeface="Century Gothic"/>
                <a:cs typeface="Century Gothic"/>
                <a:sym typeface="Century Gothic"/>
              </a:rPr>
              <a:t>-202</a:t>
            </a:r>
            <a:r>
              <a:rPr lang="en-US" sz="2000" dirty="0"/>
              <a:t>5</a:t>
            </a:r>
            <a:endParaRPr sz="2000" dirty="0"/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</a:pPr>
            <a:endParaRPr sz="2000" dirty="0"/>
          </a:p>
          <a:p>
            <a:pPr marL="457200" lvl="0" indent="-355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●"/>
            </a:pPr>
            <a:r>
              <a:rPr lang="en-US" sz="2000" dirty="0">
                <a:latin typeface="Century Gothic"/>
                <a:ea typeface="Century Gothic"/>
                <a:cs typeface="Century Gothic"/>
                <a:sym typeface="Century Gothic"/>
              </a:rPr>
              <a:t>Asignatura:</a:t>
            </a:r>
            <a:r>
              <a:rPr lang="en-US" sz="2000" dirty="0"/>
              <a:t> Capstone 007D</a:t>
            </a:r>
            <a:endParaRPr sz="2000" dirty="0">
              <a:solidFill>
                <a:srgbClr val="262626"/>
              </a:solidFill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</a:pPr>
            <a:endParaRPr sz="2000" dirty="0">
              <a:solidFill>
                <a:srgbClr val="262626"/>
              </a:solidFill>
            </a:endParaRPr>
          </a:p>
          <a:p>
            <a:pPr marL="457200" lvl="0" indent="-355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●"/>
            </a:pPr>
            <a:r>
              <a:rPr lang="en-US" sz="2000" dirty="0" err="1">
                <a:latin typeface="Century Gothic"/>
                <a:ea typeface="Century Gothic"/>
                <a:cs typeface="Century Gothic"/>
                <a:sym typeface="Century Gothic"/>
              </a:rPr>
              <a:t>Docente</a:t>
            </a:r>
            <a:r>
              <a:rPr lang="en-US" sz="2000" dirty="0"/>
              <a:t>: Juan Alberto Gana</a:t>
            </a:r>
            <a:endParaRPr dirty="0"/>
          </a:p>
        </p:txBody>
      </p:sp>
      <p:sp>
        <p:nvSpPr>
          <p:cNvPr id="101" name="Google Shape;101;p1"/>
          <p:cNvSpPr/>
          <p:nvPr/>
        </p:nvSpPr>
        <p:spPr>
          <a:xfrm flipH="1">
            <a:off x="530529" y="1"/>
            <a:ext cx="1155142" cy="591009"/>
          </a:xfrm>
          <a:custGeom>
            <a:avLst/>
            <a:gdLst/>
            <a:ahLst/>
            <a:cxnLst/>
            <a:rect l="l" t="t" r="r" b="b"/>
            <a:pathLst>
              <a:path w="1155142" h="591009" extrusionOk="0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"/>
          <p:cNvSpPr/>
          <p:nvPr/>
        </p:nvSpPr>
        <p:spPr>
          <a:xfrm flipH="1">
            <a:off x="4349052" y="0"/>
            <a:ext cx="1737401" cy="959536"/>
          </a:xfrm>
          <a:custGeom>
            <a:avLst/>
            <a:gdLst/>
            <a:ahLst/>
            <a:cxnLst/>
            <a:rect l="l" t="t" r="r" b="b"/>
            <a:pathLst>
              <a:path w="1737401" h="959536" extrusionOk="0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"/>
          <p:cNvSpPr/>
          <p:nvPr/>
        </p:nvSpPr>
        <p:spPr>
          <a:xfrm flipH="1">
            <a:off x="0" y="2916245"/>
            <a:ext cx="159741" cy="552996"/>
          </a:xfrm>
          <a:custGeom>
            <a:avLst/>
            <a:gdLst/>
            <a:ahLst/>
            <a:cxnLst/>
            <a:rect l="l" t="t" r="r" b="b"/>
            <a:pathLst>
              <a:path w="159741" h="552996" extrusionOk="0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"/>
          <p:cNvSpPr/>
          <p:nvPr/>
        </p:nvSpPr>
        <p:spPr>
          <a:xfrm flipH="1">
            <a:off x="0" y="5835649"/>
            <a:ext cx="1548180" cy="1022351"/>
          </a:xfrm>
          <a:custGeom>
            <a:avLst/>
            <a:gdLst/>
            <a:ahLst/>
            <a:cxnLst/>
            <a:rect l="l" t="t" r="r" b="b"/>
            <a:pathLst>
              <a:path w="1548180" h="1022351" extrusionOk="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"/>
          <p:cNvSpPr/>
          <p:nvPr/>
        </p:nvSpPr>
        <p:spPr>
          <a:xfrm flipH="1">
            <a:off x="3697761" y="5717906"/>
            <a:ext cx="1771609" cy="1140095"/>
          </a:xfrm>
          <a:custGeom>
            <a:avLst/>
            <a:gdLst/>
            <a:ahLst/>
            <a:cxnLst/>
            <a:rect l="l" t="t" r="r" b="b"/>
            <a:pathLst>
              <a:path w="1771609" h="1140095" extrusionOk="0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"/>
          <p:cNvSpPr/>
          <p:nvPr/>
        </p:nvSpPr>
        <p:spPr>
          <a:xfrm flipH="1">
            <a:off x="4520513" y="6258756"/>
            <a:ext cx="1565940" cy="599245"/>
          </a:xfrm>
          <a:custGeom>
            <a:avLst/>
            <a:gdLst/>
            <a:ahLst/>
            <a:cxnLst/>
            <a:rect l="l" t="t" r="r" b="b"/>
            <a:pathLst>
              <a:path w="1565940" h="599245" extrusionOk="0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"/>
          <p:cNvSpPr txBox="1"/>
          <p:nvPr/>
        </p:nvSpPr>
        <p:spPr>
          <a:xfrm>
            <a:off x="6402490" y="2206656"/>
            <a:ext cx="52891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Escuela de informática y telecomunicaciones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8" name="Google Shape;108;p1" descr="Logotipo&#10;&#10;Descripción generada automá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85673" y="341624"/>
            <a:ext cx="2663375" cy="6525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2840" y="1408869"/>
            <a:ext cx="4926530" cy="47836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aea9d59199_1_0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g3aea9d59199_1_0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6" name="Google Shape;116;g3aea9d59199_1_0" title="Video_Promocional_de_Gestión_de_Inventario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67050" y="857250"/>
            <a:ext cx="9657901" cy="5432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"/>
          <p:cNvSpPr/>
          <p:nvPr/>
        </p:nvSpPr>
        <p:spPr>
          <a:xfrm>
            <a:off x="9233418" y="242750"/>
            <a:ext cx="2796000" cy="2796000"/>
          </a:xfrm>
          <a:prstGeom prst="arc">
            <a:avLst>
              <a:gd name="adj1" fmla="val 14441841"/>
              <a:gd name="adj2" fmla="val 0"/>
            </a:avLst>
          </a:prstGeom>
          <a:noFill/>
          <a:ln w="118825" cap="rnd" cmpd="sng">
            <a:solidFill>
              <a:schemeClr val="accent4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85550" tIns="42775" rIns="85550" bIns="427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84"/>
              <a:buFont typeface="Century Gothic"/>
              <a:buNone/>
            </a:pPr>
            <a:endParaRPr sz="1497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2"/>
          <p:cNvSpPr txBox="1">
            <a:spLocks noGrp="1"/>
          </p:cNvSpPr>
          <p:nvPr>
            <p:ph type="ctrTitle"/>
          </p:nvPr>
        </p:nvSpPr>
        <p:spPr>
          <a:xfrm>
            <a:off x="6956175" y="432773"/>
            <a:ext cx="4250400" cy="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</a:pPr>
            <a:r>
              <a:rPr lang="en-US" sz="3500"/>
              <a:t>Introduccion</a:t>
            </a:r>
            <a:endParaRPr sz="2000"/>
          </a:p>
        </p:txBody>
      </p:sp>
      <p:sp>
        <p:nvSpPr>
          <p:cNvPr id="123" name="Google Shape;123;p2"/>
          <p:cNvSpPr/>
          <p:nvPr/>
        </p:nvSpPr>
        <p:spPr>
          <a:xfrm>
            <a:off x="11006551" y="5986323"/>
            <a:ext cx="480300" cy="4674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85550" tIns="42775" rIns="85550" bIns="427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84"/>
              <a:buFont typeface="Century Gothic"/>
              <a:buNone/>
            </a:pPr>
            <a:endParaRPr sz="1497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4" name="Google Shape;124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3225" y="1090375"/>
            <a:ext cx="6236326" cy="4677251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"/>
          <p:cNvSpPr/>
          <p:nvPr/>
        </p:nvSpPr>
        <p:spPr>
          <a:xfrm flipH="1">
            <a:off x="0" y="5854045"/>
            <a:ext cx="1548180" cy="1004460"/>
          </a:xfrm>
          <a:custGeom>
            <a:avLst/>
            <a:gdLst/>
            <a:ahLst/>
            <a:cxnLst/>
            <a:rect l="l" t="t" r="r" b="b"/>
            <a:pathLst>
              <a:path w="1548180" h="1022351" extrusionOk="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2"/>
          <p:cNvSpPr/>
          <p:nvPr/>
        </p:nvSpPr>
        <p:spPr>
          <a:xfrm rot="10800000" flipH="1">
            <a:off x="6789545" y="5"/>
            <a:ext cx="1565940" cy="599245"/>
          </a:xfrm>
          <a:custGeom>
            <a:avLst/>
            <a:gdLst/>
            <a:ahLst/>
            <a:cxnLst/>
            <a:rect l="l" t="t" r="r" b="b"/>
            <a:pathLst>
              <a:path w="1565940" h="599245" extrusionOk="0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2"/>
          <p:cNvSpPr txBox="1"/>
          <p:nvPr/>
        </p:nvSpPr>
        <p:spPr>
          <a:xfrm>
            <a:off x="6956175" y="1289793"/>
            <a:ext cx="3977100" cy="615300"/>
          </a:xfrm>
          <a:prstGeom prst="rect">
            <a:avLst/>
          </a:prstGeom>
          <a:solidFill>
            <a:srgbClr val="EA9999"/>
          </a:solidFill>
          <a:ln>
            <a:noFill/>
          </a:ln>
        </p:spPr>
        <p:txBody>
          <a:bodyPr spcFirstLastPara="1" wrap="square" lIns="85550" tIns="85550" rIns="85550" bIns="855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46"/>
              <a:buFont typeface="Arial"/>
              <a:buNone/>
            </a:pPr>
            <a:r>
              <a:rPr lang="en-US" sz="2058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Problematica presentada</a:t>
            </a:r>
            <a:endParaRPr sz="2058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28" name="Google Shape;128;p2"/>
          <p:cNvSpPr txBox="1"/>
          <p:nvPr/>
        </p:nvSpPr>
        <p:spPr>
          <a:xfrm>
            <a:off x="6956175" y="2869733"/>
            <a:ext cx="3818700" cy="560700"/>
          </a:xfrm>
          <a:prstGeom prst="rect">
            <a:avLst/>
          </a:prstGeom>
          <a:solidFill>
            <a:srgbClr val="FFE599"/>
          </a:solidFill>
          <a:ln>
            <a:noFill/>
          </a:ln>
        </p:spPr>
        <p:txBody>
          <a:bodyPr spcFirstLastPara="1" wrap="square" lIns="85550" tIns="85550" rIns="85550" bIns="855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46"/>
              <a:buFont typeface="Arial"/>
              <a:buNone/>
            </a:pPr>
            <a:r>
              <a:rPr lang="en-US" sz="2058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Metodología y arquitectura</a:t>
            </a:r>
            <a:endParaRPr sz="2058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29" name="Google Shape;129;p2"/>
          <p:cNvSpPr txBox="1"/>
          <p:nvPr/>
        </p:nvSpPr>
        <p:spPr>
          <a:xfrm>
            <a:off x="6965439" y="2134953"/>
            <a:ext cx="3958800" cy="5610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spcFirstLastPara="1" wrap="square" lIns="85550" tIns="85550" rIns="85550" bIns="855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46"/>
              <a:buFont typeface="Arial"/>
              <a:buNone/>
            </a:pPr>
            <a:r>
              <a:rPr lang="en-US" sz="2058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Objetivos</a:t>
            </a:r>
            <a:endParaRPr sz="2058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30" name="Google Shape;130;p2"/>
          <p:cNvSpPr txBox="1"/>
          <p:nvPr/>
        </p:nvSpPr>
        <p:spPr>
          <a:xfrm>
            <a:off x="6956187" y="3604232"/>
            <a:ext cx="4050300" cy="560700"/>
          </a:xfrm>
          <a:prstGeom prst="rect">
            <a:avLst/>
          </a:prstGeom>
          <a:solidFill>
            <a:srgbClr val="B6D7A8"/>
          </a:solidFill>
          <a:ln>
            <a:noFill/>
          </a:ln>
        </p:spPr>
        <p:txBody>
          <a:bodyPr spcFirstLastPara="1" wrap="square" lIns="85550" tIns="85550" rIns="85550" bIns="855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46"/>
              <a:buFont typeface="Arial"/>
              <a:buNone/>
            </a:pPr>
            <a:r>
              <a:rPr lang="en-US" sz="2058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Clientes y APIs</a:t>
            </a:r>
            <a:endParaRPr sz="2058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31" name="Google Shape;131;p2"/>
          <p:cNvSpPr txBox="1"/>
          <p:nvPr/>
        </p:nvSpPr>
        <p:spPr>
          <a:xfrm>
            <a:off x="6956175" y="4338731"/>
            <a:ext cx="3818700" cy="560700"/>
          </a:xfrm>
          <a:prstGeom prst="rect">
            <a:avLst/>
          </a:prstGeom>
          <a:solidFill>
            <a:srgbClr val="B4A7D6"/>
          </a:solidFill>
          <a:ln>
            <a:noFill/>
          </a:ln>
        </p:spPr>
        <p:txBody>
          <a:bodyPr spcFirstLastPara="1" wrap="square" lIns="85550" tIns="85550" rIns="85550" bIns="855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46"/>
              <a:buFont typeface="Arial"/>
              <a:buNone/>
            </a:pPr>
            <a:r>
              <a:rPr lang="en-US" sz="2058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Normas ISO</a:t>
            </a:r>
            <a:endParaRPr sz="2058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132" name="Google Shape;132;p2" descr="Logotipo&#10;&#10;Descripción generada automáticament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53223" y="194824"/>
            <a:ext cx="2663375" cy="652516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"/>
          <p:cNvSpPr txBox="1"/>
          <p:nvPr/>
        </p:nvSpPr>
        <p:spPr>
          <a:xfrm>
            <a:off x="6956187" y="5073230"/>
            <a:ext cx="4093500" cy="560700"/>
          </a:xfrm>
          <a:prstGeom prst="rect">
            <a:avLst/>
          </a:prstGeom>
          <a:solidFill>
            <a:srgbClr val="D5A6BD"/>
          </a:solidFill>
          <a:ln>
            <a:noFill/>
          </a:ln>
        </p:spPr>
        <p:txBody>
          <a:bodyPr spcFirstLastPara="1" wrap="square" lIns="85550" tIns="85550" rIns="85550" bIns="855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46"/>
              <a:buFont typeface="Arial"/>
              <a:buNone/>
            </a:pPr>
            <a:r>
              <a:rPr lang="en-US" sz="2058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Suposiciones y restricciones</a:t>
            </a:r>
            <a:endParaRPr sz="2058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38acfe7504_0_23"/>
          <p:cNvSpPr/>
          <p:nvPr/>
        </p:nvSpPr>
        <p:spPr>
          <a:xfrm>
            <a:off x="8947561" y="144699"/>
            <a:ext cx="2988000" cy="2988000"/>
          </a:xfrm>
          <a:prstGeom prst="arc">
            <a:avLst>
              <a:gd name="adj1" fmla="val 14441841"/>
              <a:gd name="adj2" fmla="val 0"/>
            </a:avLst>
          </a:prstGeom>
          <a:noFill/>
          <a:ln w="127000" cap="rnd" cmpd="sng">
            <a:solidFill>
              <a:schemeClr val="accent4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g338acfe7504_0_23"/>
          <p:cNvSpPr txBox="1">
            <a:spLocks noGrp="1"/>
          </p:cNvSpPr>
          <p:nvPr>
            <p:ph type="ctrTitle"/>
          </p:nvPr>
        </p:nvSpPr>
        <p:spPr>
          <a:xfrm>
            <a:off x="3469100" y="729025"/>
            <a:ext cx="5792400" cy="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</a:pPr>
            <a:r>
              <a:rPr lang="en-US" sz="3500"/>
              <a:t>Problematica presentada</a:t>
            </a:r>
            <a:endParaRPr sz="2000"/>
          </a:p>
        </p:txBody>
      </p:sp>
      <p:sp>
        <p:nvSpPr>
          <p:cNvPr id="140" name="Google Shape;140;g338acfe7504_0_23"/>
          <p:cNvSpPr/>
          <p:nvPr/>
        </p:nvSpPr>
        <p:spPr>
          <a:xfrm>
            <a:off x="11284779" y="5954217"/>
            <a:ext cx="513300" cy="4995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g338acfe7504_0_23"/>
          <p:cNvSpPr/>
          <p:nvPr/>
        </p:nvSpPr>
        <p:spPr>
          <a:xfrm flipH="1">
            <a:off x="0" y="5854045"/>
            <a:ext cx="1548180" cy="1004460"/>
          </a:xfrm>
          <a:custGeom>
            <a:avLst/>
            <a:gdLst/>
            <a:ahLst/>
            <a:cxnLst/>
            <a:rect l="l" t="t" r="r" b="b"/>
            <a:pathLst>
              <a:path w="1548180" h="1022351" extrusionOk="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g338acfe7504_0_23"/>
          <p:cNvSpPr/>
          <p:nvPr/>
        </p:nvSpPr>
        <p:spPr>
          <a:xfrm rot="10800000" flipH="1">
            <a:off x="6789545" y="5"/>
            <a:ext cx="1565940" cy="599245"/>
          </a:xfrm>
          <a:custGeom>
            <a:avLst/>
            <a:gdLst/>
            <a:ahLst/>
            <a:cxnLst/>
            <a:rect l="l" t="t" r="r" b="b"/>
            <a:pathLst>
              <a:path w="1565940" h="599245" extrusionOk="0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g338acfe7504_0_23"/>
          <p:cNvSpPr txBox="1"/>
          <p:nvPr/>
        </p:nvSpPr>
        <p:spPr>
          <a:xfrm>
            <a:off x="1866550" y="2098600"/>
            <a:ext cx="3254700" cy="657600"/>
          </a:xfrm>
          <a:prstGeom prst="rect">
            <a:avLst/>
          </a:prstGeom>
          <a:solidFill>
            <a:srgbClr val="B4A7D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Mala organizacion</a:t>
            </a:r>
            <a:endParaRPr sz="24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44" name="Google Shape;144;g338acfe7504_0_23"/>
          <p:cNvSpPr txBox="1"/>
          <p:nvPr/>
        </p:nvSpPr>
        <p:spPr>
          <a:xfrm>
            <a:off x="6268775" y="3739750"/>
            <a:ext cx="4626600" cy="599400"/>
          </a:xfrm>
          <a:prstGeom prst="rect">
            <a:avLst/>
          </a:prstGeom>
          <a:solidFill>
            <a:srgbClr val="FFE599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Falta de historial y registros</a:t>
            </a:r>
            <a:endParaRPr sz="24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45" name="Google Shape;145;g338acfe7504_0_23"/>
          <p:cNvSpPr txBox="1"/>
          <p:nvPr/>
        </p:nvSpPr>
        <p:spPr>
          <a:xfrm>
            <a:off x="1812100" y="3675150"/>
            <a:ext cx="3828000" cy="5994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Pérdida de seguimiento </a:t>
            </a:r>
            <a:endParaRPr sz="24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46" name="Google Shape;146;g338acfe7504_0_23"/>
          <p:cNvSpPr txBox="1"/>
          <p:nvPr/>
        </p:nvSpPr>
        <p:spPr>
          <a:xfrm>
            <a:off x="5368100" y="2098600"/>
            <a:ext cx="5527200" cy="657600"/>
          </a:xfrm>
          <a:prstGeom prst="rect">
            <a:avLst/>
          </a:prstGeom>
          <a:solidFill>
            <a:srgbClr val="D5A6BD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Gestión de inventario escaso o nulo</a:t>
            </a:r>
            <a:endParaRPr sz="24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147" name="Google Shape;147;g338acfe7504_0_23" descr="Logotipo&#10;&#10;Descripción generada automá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6848" y="205324"/>
            <a:ext cx="2663375" cy="652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aa1e545030_0_0"/>
          <p:cNvSpPr/>
          <p:nvPr/>
        </p:nvSpPr>
        <p:spPr>
          <a:xfrm>
            <a:off x="8947561" y="144699"/>
            <a:ext cx="2988000" cy="2988000"/>
          </a:xfrm>
          <a:prstGeom prst="arc">
            <a:avLst>
              <a:gd name="adj1" fmla="val 14441841"/>
              <a:gd name="adj2" fmla="val 0"/>
            </a:avLst>
          </a:prstGeom>
          <a:noFill/>
          <a:ln w="127000" cap="rnd" cmpd="sng">
            <a:solidFill>
              <a:schemeClr val="accent4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g3aa1e545030_0_0"/>
          <p:cNvSpPr txBox="1">
            <a:spLocks noGrp="1"/>
          </p:cNvSpPr>
          <p:nvPr>
            <p:ph type="ctrTitle"/>
          </p:nvPr>
        </p:nvSpPr>
        <p:spPr>
          <a:xfrm>
            <a:off x="3002100" y="547400"/>
            <a:ext cx="5792400" cy="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</a:pPr>
            <a:r>
              <a:rPr lang="en-US" sz="3500"/>
              <a:t>Objetivos</a:t>
            </a:r>
            <a:endParaRPr sz="2000"/>
          </a:p>
        </p:txBody>
      </p:sp>
      <p:sp>
        <p:nvSpPr>
          <p:cNvPr id="154" name="Google Shape;154;g3aa1e545030_0_0"/>
          <p:cNvSpPr/>
          <p:nvPr/>
        </p:nvSpPr>
        <p:spPr>
          <a:xfrm>
            <a:off x="11284779" y="5954217"/>
            <a:ext cx="513300" cy="4995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g3aa1e545030_0_0"/>
          <p:cNvSpPr/>
          <p:nvPr/>
        </p:nvSpPr>
        <p:spPr>
          <a:xfrm flipH="1">
            <a:off x="0" y="5854045"/>
            <a:ext cx="1548180" cy="1004460"/>
          </a:xfrm>
          <a:custGeom>
            <a:avLst/>
            <a:gdLst/>
            <a:ahLst/>
            <a:cxnLst/>
            <a:rect l="l" t="t" r="r" b="b"/>
            <a:pathLst>
              <a:path w="1548180" h="1022351" extrusionOk="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g3aa1e545030_0_0"/>
          <p:cNvSpPr/>
          <p:nvPr/>
        </p:nvSpPr>
        <p:spPr>
          <a:xfrm rot="10800000" flipH="1">
            <a:off x="6789545" y="5"/>
            <a:ext cx="1565940" cy="599245"/>
          </a:xfrm>
          <a:custGeom>
            <a:avLst/>
            <a:gdLst/>
            <a:ahLst/>
            <a:cxnLst/>
            <a:rect l="l" t="t" r="r" b="b"/>
            <a:pathLst>
              <a:path w="1565940" h="599245" extrusionOk="0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g3aa1e545030_0_0"/>
          <p:cNvSpPr txBox="1"/>
          <p:nvPr/>
        </p:nvSpPr>
        <p:spPr>
          <a:xfrm>
            <a:off x="1638725" y="2167688"/>
            <a:ext cx="3254700" cy="657600"/>
          </a:xfrm>
          <a:prstGeom prst="rect">
            <a:avLst/>
          </a:prstGeom>
          <a:solidFill>
            <a:srgbClr val="B4A7D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Objetivo general</a:t>
            </a:r>
            <a:endParaRPr sz="24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58" name="Google Shape;158;g3aa1e545030_0_0"/>
          <p:cNvSpPr txBox="1"/>
          <p:nvPr/>
        </p:nvSpPr>
        <p:spPr>
          <a:xfrm>
            <a:off x="6473375" y="2704638"/>
            <a:ext cx="4811400" cy="2060400"/>
          </a:xfrm>
          <a:prstGeom prst="rect">
            <a:avLst/>
          </a:prstGeom>
          <a:solidFill>
            <a:srgbClr val="FFE599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-Implementar Firebase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-Integrar API gemini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-Carga de CSV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-Reducir tiempos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-Facilitar toma decisiones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59" name="Google Shape;159;g3aa1e545030_0_0"/>
          <p:cNvSpPr txBox="1"/>
          <p:nvPr/>
        </p:nvSpPr>
        <p:spPr>
          <a:xfrm>
            <a:off x="1638725" y="2825288"/>
            <a:ext cx="3828000" cy="17190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-Desarrollar sistema online gestion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Asistente virtual 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-Automatizar y optimizar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60" name="Google Shape;160;g3aa1e545030_0_0"/>
          <p:cNvSpPr txBox="1"/>
          <p:nvPr/>
        </p:nvSpPr>
        <p:spPr>
          <a:xfrm>
            <a:off x="6473375" y="2047038"/>
            <a:ext cx="3344700" cy="657600"/>
          </a:xfrm>
          <a:prstGeom prst="rect">
            <a:avLst/>
          </a:prstGeom>
          <a:solidFill>
            <a:srgbClr val="D5A6BD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Objetivos especificos</a:t>
            </a:r>
            <a:endParaRPr sz="24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161" name="Google Shape;161;g3aa1e545030_0_0" descr="Logotipo&#10;&#10;Descripción generada automá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6848" y="205324"/>
            <a:ext cx="2663375" cy="652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aa1e545030_0_13"/>
          <p:cNvSpPr/>
          <p:nvPr/>
        </p:nvSpPr>
        <p:spPr>
          <a:xfrm>
            <a:off x="8947561" y="144699"/>
            <a:ext cx="2988000" cy="2988000"/>
          </a:xfrm>
          <a:prstGeom prst="arc">
            <a:avLst>
              <a:gd name="adj1" fmla="val 14441841"/>
              <a:gd name="adj2" fmla="val 0"/>
            </a:avLst>
          </a:prstGeom>
          <a:noFill/>
          <a:ln w="127000" cap="rnd" cmpd="sng">
            <a:solidFill>
              <a:schemeClr val="accent4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g3aa1e545030_0_13"/>
          <p:cNvSpPr txBox="1">
            <a:spLocks noGrp="1"/>
          </p:cNvSpPr>
          <p:nvPr>
            <p:ph type="ctrTitle"/>
          </p:nvPr>
        </p:nvSpPr>
        <p:spPr>
          <a:xfrm>
            <a:off x="3002100" y="547400"/>
            <a:ext cx="5792400" cy="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</a:pPr>
            <a:r>
              <a:rPr lang="en-US" sz="3500"/>
              <a:t>Metodologia</a:t>
            </a:r>
            <a:endParaRPr sz="2000"/>
          </a:p>
        </p:txBody>
      </p:sp>
      <p:sp>
        <p:nvSpPr>
          <p:cNvPr id="168" name="Google Shape;168;g3aa1e545030_0_13"/>
          <p:cNvSpPr/>
          <p:nvPr/>
        </p:nvSpPr>
        <p:spPr>
          <a:xfrm>
            <a:off x="11284779" y="5954217"/>
            <a:ext cx="513300" cy="4995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g3aa1e545030_0_13"/>
          <p:cNvSpPr/>
          <p:nvPr/>
        </p:nvSpPr>
        <p:spPr>
          <a:xfrm flipH="1">
            <a:off x="0" y="5854045"/>
            <a:ext cx="1548180" cy="1004460"/>
          </a:xfrm>
          <a:custGeom>
            <a:avLst/>
            <a:gdLst/>
            <a:ahLst/>
            <a:cxnLst/>
            <a:rect l="l" t="t" r="r" b="b"/>
            <a:pathLst>
              <a:path w="1548180" h="1022351" extrusionOk="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g3aa1e545030_0_13"/>
          <p:cNvSpPr/>
          <p:nvPr/>
        </p:nvSpPr>
        <p:spPr>
          <a:xfrm rot="10800000" flipH="1">
            <a:off x="6789545" y="5"/>
            <a:ext cx="1565940" cy="599245"/>
          </a:xfrm>
          <a:custGeom>
            <a:avLst/>
            <a:gdLst/>
            <a:ahLst/>
            <a:cxnLst/>
            <a:rect l="l" t="t" r="r" b="b"/>
            <a:pathLst>
              <a:path w="1565940" h="599245" extrusionOk="0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g3aa1e545030_0_13"/>
          <p:cNvSpPr txBox="1"/>
          <p:nvPr/>
        </p:nvSpPr>
        <p:spPr>
          <a:xfrm>
            <a:off x="4468650" y="1383463"/>
            <a:ext cx="3254700" cy="657600"/>
          </a:xfrm>
          <a:prstGeom prst="rect">
            <a:avLst/>
          </a:prstGeom>
          <a:solidFill>
            <a:srgbClr val="B4A7D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Metodologia Agil</a:t>
            </a:r>
            <a:endParaRPr sz="24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72" name="Google Shape;172;g3aa1e545030_0_13"/>
          <p:cNvSpPr txBox="1"/>
          <p:nvPr/>
        </p:nvSpPr>
        <p:spPr>
          <a:xfrm>
            <a:off x="1548175" y="2449797"/>
            <a:ext cx="3828000" cy="1368600"/>
          </a:xfrm>
          <a:prstGeom prst="rect">
            <a:avLst/>
          </a:prstGeom>
          <a:solidFill>
            <a:srgbClr val="F9CB9C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Estructura flexible, itineraria y orientada a entregas continuas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173" name="Google Shape;173;g3aa1e545030_0_13" descr="Logotipo&#10;&#10;Descripción generada automá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6848" y="205324"/>
            <a:ext cx="2663375" cy="652516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g3aa1e545030_0_13"/>
          <p:cNvSpPr txBox="1"/>
          <p:nvPr/>
        </p:nvSpPr>
        <p:spPr>
          <a:xfrm>
            <a:off x="7016275" y="2569496"/>
            <a:ext cx="3828000" cy="1129200"/>
          </a:xfrm>
          <a:prstGeom prst="rect">
            <a:avLst/>
          </a:prstGeom>
          <a:solidFill>
            <a:srgbClr val="D5A6BD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Sprints con incremento del producto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75" name="Google Shape;175;g3aa1e545030_0_13"/>
          <p:cNvSpPr txBox="1"/>
          <p:nvPr/>
        </p:nvSpPr>
        <p:spPr>
          <a:xfrm>
            <a:off x="1789825" y="4585625"/>
            <a:ext cx="4687200" cy="1368600"/>
          </a:xfrm>
          <a:prstGeom prst="rect">
            <a:avLst/>
          </a:pr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Colaboración entre desarrolladores, comprension compartida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76" name="Google Shape;176;g3aa1e545030_0_13"/>
          <p:cNvSpPr txBox="1"/>
          <p:nvPr/>
        </p:nvSpPr>
        <p:spPr>
          <a:xfrm>
            <a:off x="7016275" y="4193895"/>
            <a:ext cx="3828000" cy="1004400"/>
          </a:xfrm>
          <a:prstGeom prst="rect">
            <a:avLst/>
          </a:prstGeom>
          <a:solidFill>
            <a:srgbClr val="B6D7A8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Incremento calidad de producto final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ae576175f6_0_2"/>
          <p:cNvSpPr/>
          <p:nvPr/>
        </p:nvSpPr>
        <p:spPr>
          <a:xfrm>
            <a:off x="8947561" y="144699"/>
            <a:ext cx="2988000" cy="2988000"/>
          </a:xfrm>
          <a:prstGeom prst="arc">
            <a:avLst>
              <a:gd name="adj1" fmla="val 14441841"/>
              <a:gd name="adj2" fmla="val 0"/>
            </a:avLst>
          </a:prstGeom>
          <a:noFill/>
          <a:ln w="127000" cap="rnd" cmpd="sng">
            <a:solidFill>
              <a:schemeClr val="accent4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g3ae576175f6_0_2"/>
          <p:cNvSpPr txBox="1">
            <a:spLocks noGrp="1"/>
          </p:cNvSpPr>
          <p:nvPr>
            <p:ph type="ctrTitle"/>
          </p:nvPr>
        </p:nvSpPr>
        <p:spPr>
          <a:xfrm>
            <a:off x="2933725" y="800400"/>
            <a:ext cx="6212700" cy="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71428"/>
              <a:buFont typeface="Century Gothic"/>
              <a:buNone/>
            </a:pPr>
            <a:r>
              <a:rPr lang="en-US" sz="3500"/>
              <a:t>Arquitectura</a:t>
            </a:r>
            <a:endParaRPr sz="3500"/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71428"/>
              <a:buFont typeface="Century Gothic"/>
              <a:buNone/>
            </a:pPr>
            <a:r>
              <a:rPr lang="en-US" sz="3500"/>
              <a:t>Modelo logico base de datos</a:t>
            </a:r>
            <a:endParaRPr sz="35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71428"/>
              <a:buFont typeface="Century Gothic"/>
              <a:buNone/>
            </a:pPr>
            <a:endParaRPr sz="3500"/>
          </a:p>
        </p:txBody>
      </p:sp>
      <p:sp>
        <p:nvSpPr>
          <p:cNvPr id="183" name="Google Shape;183;g3ae576175f6_0_2"/>
          <p:cNvSpPr/>
          <p:nvPr/>
        </p:nvSpPr>
        <p:spPr>
          <a:xfrm>
            <a:off x="11284779" y="5954217"/>
            <a:ext cx="513300" cy="4995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g3ae576175f6_0_2"/>
          <p:cNvSpPr/>
          <p:nvPr/>
        </p:nvSpPr>
        <p:spPr>
          <a:xfrm flipH="1">
            <a:off x="0" y="5854045"/>
            <a:ext cx="1548180" cy="1004460"/>
          </a:xfrm>
          <a:custGeom>
            <a:avLst/>
            <a:gdLst/>
            <a:ahLst/>
            <a:cxnLst/>
            <a:rect l="l" t="t" r="r" b="b"/>
            <a:pathLst>
              <a:path w="1548180" h="1022351" extrusionOk="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5" name="Google Shape;185;g3ae576175f6_0_2" descr="Logotipo&#10;&#10;Descripción generada automá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6848" y="205324"/>
            <a:ext cx="2663375" cy="6525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g3ae576175f6_0_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12750" y="1080250"/>
            <a:ext cx="7740349" cy="529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5c762ae955_0_23"/>
          <p:cNvSpPr/>
          <p:nvPr/>
        </p:nvSpPr>
        <p:spPr>
          <a:xfrm>
            <a:off x="0" y="-12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g35c762ae955_0_23"/>
          <p:cNvSpPr/>
          <p:nvPr/>
        </p:nvSpPr>
        <p:spPr>
          <a:xfrm>
            <a:off x="8947561" y="144699"/>
            <a:ext cx="2988000" cy="2988000"/>
          </a:xfrm>
          <a:prstGeom prst="arc">
            <a:avLst>
              <a:gd name="adj1" fmla="val 14441841"/>
              <a:gd name="adj2" fmla="val 0"/>
            </a:avLst>
          </a:prstGeom>
          <a:noFill/>
          <a:ln w="127000" cap="rnd" cmpd="sng">
            <a:solidFill>
              <a:schemeClr val="accent4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g35c762ae955_0_23"/>
          <p:cNvSpPr txBox="1">
            <a:spLocks noGrp="1"/>
          </p:cNvSpPr>
          <p:nvPr>
            <p:ph type="ctrTitle"/>
          </p:nvPr>
        </p:nvSpPr>
        <p:spPr>
          <a:xfrm>
            <a:off x="3927400" y="432775"/>
            <a:ext cx="5699400" cy="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</a:pPr>
            <a:r>
              <a:rPr lang="en-US" sz="3500"/>
              <a:t>Clientes</a:t>
            </a:r>
            <a:endParaRPr sz="2000"/>
          </a:p>
        </p:txBody>
      </p:sp>
      <p:sp>
        <p:nvSpPr>
          <p:cNvPr id="194" name="Google Shape;194;g35c762ae955_0_23"/>
          <p:cNvSpPr/>
          <p:nvPr/>
        </p:nvSpPr>
        <p:spPr>
          <a:xfrm>
            <a:off x="11284779" y="5954217"/>
            <a:ext cx="513300" cy="4995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g35c762ae955_0_23"/>
          <p:cNvSpPr/>
          <p:nvPr/>
        </p:nvSpPr>
        <p:spPr>
          <a:xfrm flipH="1">
            <a:off x="0" y="5854045"/>
            <a:ext cx="1548180" cy="1004460"/>
          </a:xfrm>
          <a:custGeom>
            <a:avLst/>
            <a:gdLst/>
            <a:ahLst/>
            <a:cxnLst/>
            <a:rect l="l" t="t" r="r" b="b"/>
            <a:pathLst>
              <a:path w="1548180" h="1022351" extrusionOk="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g35c762ae955_0_23"/>
          <p:cNvSpPr/>
          <p:nvPr/>
        </p:nvSpPr>
        <p:spPr>
          <a:xfrm rot="10800000" flipH="1">
            <a:off x="2840420" y="505"/>
            <a:ext cx="1565940" cy="599245"/>
          </a:xfrm>
          <a:custGeom>
            <a:avLst/>
            <a:gdLst/>
            <a:ahLst/>
            <a:cxnLst/>
            <a:rect l="l" t="t" r="r" b="b"/>
            <a:pathLst>
              <a:path w="1565940" h="599245" extrusionOk="0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g35c762ae955_0_23"/>
          <p:cNvSpPr txBox="1"/>
          <p:nvPr/>
        </p:nvSpPr>
        <p:spPr>
          <a:xfrm>
            <a:off x="1212725" y="2418700"/>
            <a:ext cx="3327900" cy="657600"/>
          </a:xfrm>
          <a:prstGeom prst="rect">
            <a:avLst/>
          </a:prstGeom>
          <a:solidFill>
            <a:srgbClr val="EA9999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Dueños de negocios</a:t>
            </a:r>
            <a:endParaRPr sz="24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98" name="Google Shape;198;g35c762ae955_0_23"/>
          <p:cNvSpPr txBox="1"/>
          <p:nvPr/>
        </p:nvSpPr>
        <p:spPr>
          <a:xfrm>
            <a:off x="1212725" y="4123530"/>
            <a:ext cx="3327900" cy="599400"/>
          </a:xfrm>
          <a:prstGeom prst="rect">
            <a:avLst/>
          </a:prstGeom>
          <a:solidFill>
            <a:srgbClr val="FFE599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Almacenes</a:t>
            </a:r>
            <a:endParaRPr sz="24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99" name="Google Shape;199;g35c762ae955_0_23"/>
          <p:cNvSpPr txBox="1"/>
          <p:nvPr/>
        </p:nvSpPr>
        <p:spPr>
          <a:xfrm>
            <a:off x="1212725" y="3332200"/>
            <a:ext cx="3327900" cy="5994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Pymes</a:t>
            </a:r>
            <a:endParaRPr sz="24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200" name="Google Shape;200;g35c762ae955_0_23" title="descarga (3)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56184" y="1933184"/>
            <a:ext cx="3702300" cy="3702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g35c762ae955_0_23" descr="Logotipo&#10;&#10;Descripción generada automáticament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89498" y="435312"/>
            <a:ext cx="2663375" cy="652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8dbc7f2c22_0_2"/>
          <p:cNvSpPr txBox="1">
            <a:spLocks noGrp="1"/>
          </p:cNvSpPr>
          <p:nvPr>
            <p:ph type="ctrTitle"/>
          </p:nvPr>
        </p:nvSpPr>
        <p:spPr>
          <a:xfrm>
            <a:off x="3927400" y="432775"/>
            <a:ext cx="5699400" cy="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</a:pPr>
            <a:r>
              <a:rPr lang="en-US" sz="3500"/>
              <a:t>Normas ISO</a:t>
            </a:r>
            <a:endParaRPr sz="2000"/>
          </a:p>
        </p:txBody>
      </p:sp>
      <p:pic>
        <p:nvPicPr>
          <p:cNvPr id="221" name="Google Shape;221;g38dbc7f2c22_0_2" descr="Logotipo&#10;&#10;Descripción generada automá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9248" y="257724"/>
            <a:ext cx="2663375" cy="652516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g38dbc7f2c22_0_2"/>
          <p:cNvSpPr txBox="1"/>
          <p:nvPr/>
        </p:nvSpPr>
        <p:spPr>
          <a:xfrm>
            <a:off x="928000" y="1662225"/>
            <a:ext cx="5699400" cy="599100"/>
          </a:xfrm>
          <a:prstGeom prst="rect">
            <a:avLst/>
          </a:prstGeom>
          <a:solidFill>
            <a:srgbClr val="EA9999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Seguridad de la información 27.001</a:t>
            </a:r>
            <a:endParaRPr sz="24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23" name="Google Shape;223;g38dbc7f2c22_0_2"/>
          <p:cNvSpPr txBox="1"/>
          <p:nvPr/>
        </p:nvSpPr>
        <p:spPr>
          <a:xfrm>
            <a:off x="7359700" y="2261625"/>
            <a:ext cx="3702300" cy="1221300"/>
          </a:xfrm>
          <a:prstGeom prst="rect">
            <a:avLst/>
          </a:prstGeom>
          <a:solidFill>
            <a:srgbClr val="B6D7A8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-Usabilidad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-Seguridad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-Rendimiento</a:t>
            </a:r>
            <a:endParaRPr sz="24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24" name="Google Shape;224;g38dbc7f2c22_0_2"/>
          <p:cNvSpPr txBox="1"/>
          <p:nvPr/>
        </p:nvSpPr>
        <p:spPr>
          <a:xfrm>
            <a:off x="7359700" y="1662075"/>
            <a:ext cx="4362900" cy="599400"/>
          </a:xfrm>
          <a:prstGeom prst="rect">
            <a:avLst/>
          </a:prstGeom>
          <a:solidFill>
            <a:srgbClr val="FFE599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Calidad de software 25.010</a:t>
            </a:r>
            <a:endParaRPr sz="24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25" name="Google Shape;225;g38dbc7f2c22_0_2"/>
          <p:cNvSpPr txBox="1"/>
          <p:nvPr/>
        </p:nvSpPr>
        <p:spPr>
          <a:xfrm>
            <a:off x="7359700" y="3482919"/>
            <a:ext cx="3702300" cy="1713000"/>
          </a:xfrm>
          <a:prstGeom prst="rect">
            <a:avLst/>
          </a:prstGeom>
          <a:solidFill>
            <a:srgbClr val="EA9999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-Evaluar cargas de tablas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-Revision de bugs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-Pruebas de regresión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26" name="Google Shape;226;g38dbc7f2c22_0_2"/>
          <p:cNvSpPr txBox="1"/>
          <p:nvPr/>
        </p:nvSpPr>
        <p:spPr>
          <a:xfrm>
            <a:off x="928000" y="2261625"/>
            <a:ext cx="4362900" cy="1221300"/>
          </a:xfrm>
          <a:prstGeom prst="rect">
            <a:avLst/>
          </a:prstGeom>
          <a:solidFill>
            <a:srgbClr val="FFE599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-Control de acceso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-Gestión de riesgo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-Protección de datos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27" name="Google Shape;227;g38dbc7f2c22_0_2"/>
          <p:cNvSpPr txBox="1"/>
          <p:nvPr/>
        </p:nvSpPr>
        <p:spPr>
          <a:xfrm>
            <a:off x="928000" y="3483225"/>
            <a:ext cx="3287400" cy="1560600"/>
          </a:xfrm>
          <a:prstGeom prst="rect">
            <a:avLst/>
          </a:prstGeom>
          <a:solidFill>
            <a:srgbClr val="B6D7A8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-FireBase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-Roles y permisos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-Procesamiento de archivos </a:t>
            </a:r>
            <a:endParaRPr sz="24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8dbc7f2c22_0_7"/>
          <p:cNvSpPr/>
          <p:nvPr/>
        </p:nvSpPr>
        <p:spPr>
          <a:xfrm>
            <a:off x="0" y="-12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g38dbc7f2c22_0_7"/>
          <p:cNvSpPr/>
          <p:nvPr/>
        </p:nvSpPr>
        <p:spPr>
          <a:xfrm>
            <a:off x="8947561" y="144699"/>
            <a:ext cx="2988000" cy="2988000"/>
          </a:xfrm>
          <a:prstGeom prst="arc">
            <a:avLst>
              <a:gd name="adj1" fmla="val 14441841"/>
              <a:gd name="adj2" fmla="val 0"/>
            </a:avLst>
          </a:prstGeom>
          <a:noFill/>
          <a:ln w="127000" cap="rnd" cmpd="sng">
            <a:solidFill>
              <a:schemeClr val="accent4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g38dbc7f2c22_0_7"/>
          <p:cNvSpPr/>
          <p:nvPr/>
        </p:nvSpPr>
        <p:spPr>
          <a:xfrm>
            <a:off x="11284779" y="5954217"/>
            <a:ext cx="513300" cy="4995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g38dbc7f2c22_0_7"/>
          <p:cNvSpPr/>
          <p:nvPr/>
        </p:nvSpPr>
        <p:spPr>
          <a:xfrm flipH="1">
            <a:off x="0" y="5854045"/>
            <a:ext cx="1548180" cy="1004460"/>
          </a:xfrm>
          <a:custGeom>
            <a:avLst/>
            <a:gdLst/>
            <a:ahLst/>
            <a:cxnLst/>
            <a:rect l="l" t="t" r="r" b="b"/>
            <a:pathLst>
              <a:path w="1548180" h="1022351" extrusionOk="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g38dbc7f2c22_0_7"/>
          <p:cNvSpPr/>
          <p:nvPr/>
        </p:nvSpPr>
        <p:spPr>
          <a:xfrm rot="10800000" flipH="1">
            <a:off x="2840420" y="505"/>
            <a:ext cx="1565940" cy="599245"/>
          </a:xfrm>
          <a:custGeom>
            <a:avLst/>
            <a:gdLst/>
            <a:ahLst/>
            <a:cxnLst/>
            <a:rect l="l" t="t" r="r" b="b"/>
            <a:pathLst>
              <a:path w="1565940" h="599245" extrusionOk="0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g38dbc7f2c22_0_7"/>
          <p:cNvSpPr txBox="1">
            <a:spLocks noGrp="1"/>
          </p:cNvSpPr>
          <p:nvPr>
            <p:ph type="ctrTitle"/>
          </p:nvPr>
        </p:nvSpPr>
        <p:spPr>
          <a:xfrm>
            <a:off x="4954100" y="-28675"/>
            <a:ext cx="5699400" cy="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</a:pPr>
            <a:r>
              <a:rPr lang="en-US" sz="3500"/>
              <a:t>APIs</a:t>
            </a:r>
            <a:endParaRPr sz="2000"/>
          </a:p>
        </p:txBody>
      </p:sp>
      <p:pic>
        <p:nvPicPr>
          <p:cNvPr id="212" name="Google Shape;212;g38dbc7f2c22_0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1975" y="3864800"/>
            <a:ext cx="3825652" cy="10044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213" name="Google Shape;213;g38dbc7f2c22_0_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1975" y="1873450"/>
            <a:ext cx="3592524" cy="11429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214" name="Google Shape;214;g38dbc7f2c22_0_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46829" y="1538275"/>
            <a:ext cx="6037952" cy="4015226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215" name="Google Shape;215;g38dbc7f2c22_0_7" descr="Logotipo&#10;&#10;Descripción generada automáticamente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2673" y="299699"/>
            <a:ext cx="2663375" cy="652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a7db8b3d50_1_22"/>
          <p:cNvSpPr txBox="1">
            <a:spLocks noGrp="1"/>
          </p:cNvSpPr>
          <p:nvPr>
            <p:ph type="ctrTitle"/>
          </p:nvPr>
        </p:nvSpPr>
        <p:spPr>
          <a:xfrm>
            <a:off x="3246300" y="633300"/>
            <a:ext cx="5699400" cy="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71428"/>
              <a:buFont typeface="Century Gothic"/>
              <a:buNone/>
            </a:pPr>
            <a:r>
              <a:rPr lang="en-US" sz="3500"/>
              <a:t>Suposiciones y restricciones</a:t>
            </a:r>
            <a:endParaRPr sz="2000"/>
          </a:p>
        </p:txBody>
      </p:sp>
      <p:pic>
        <p:nvPicPr>
          <p:cNvPr id="233" name="Google Shape;233;g3a7db8b3d50_1_22" descr="Logotipo&#10;&#10;Descripción generada automá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9248" y="257724"/>
            <a:ext cx="2663375" cy="652516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g3a7db8b3d50_1_22"/>
          <p:cNvSpPr txBox="1"/>
          <p:nvPr/>
        </p:nvSpPr>
        <p:spPr>
          <a:xfrm>
            <a:off x="1394675" y="2052150"/>
            <a:ext cx="4488000" cy="2753700"/>
          </a:xfrm>
          <a:prstGeom prst="rect">
            <a:avLst/>
          </a:prstGeom>
          <a:solidFill>
            <a:srgbClr val="EA9999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-Disponibilidad de internet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-Conocimiento básico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-Acceso de dispositivos compatibles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-Integración funcional de APIs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-Datos en plantilla CSV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35" name="Google Shape;235;g3a7db8b3d50_1_22"/>
          <p:cNvSpPr txBox="1"/>
          <p:nvPr/>
        </p:nvSpPr>
        <p:spPr>
          <a:xfrm>
            <a:off x="6116050" y="2052200"/>
            <a:ext cx="5554500" cy="2753700"/>
          </a:xfrm>
          <a:prstGeom prst="rect">
            <a:avLst/>
          </a:prstGeom>
          <a:solidFill>
            <a:srgbClr val="B6D7A8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-Dependencias de servicios externos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-Limitación presupuesto y recursos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-Alcance a negocios pequeños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-Capacidad de almacenamiento y nube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-Privacidad y seguridad de datos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5c762ae955_0_68"/>
          <p:cNvSpPr txBox="1">
            <a:spLocks noGrp="1"/>
          </p:cNvSpPr>
          <p:nvPr>
            <p:ph type="ctrTitle"/>
          </p:nvPr>
        </p:nvSpPr>
        <p:spPr>
          <a:xfrm>
            <a:off x="2933875" y="-416550"/>
            <a:ext cx="7028700" cy="142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entury Gothic"/>
              <a:buNone/>
            </a:pPr>
            <a:r>
              <a:rPr lang="en-US" sz="4000"/>
              <a:t>Conclusiones generales</a:t>
            </a:r>
            <a:endParaRPr sz="4000"/>
          </a:p>
        </p:txBody>
      </p:sp>
      <p:sp>
        <p:nvSpPr>
          <p:cNvPr id="241" name="Google Shape;241;g35c762ae955_0_68"/>
          <p:cNvSpPr/>
          <p:nvPr/>
        </p:nvSpPr>
        <p:spPr>
          <a:xfrm flipH="1">
            <a:off x="530529" y="1"/>
            <a:ext cx="1155142" cy="591009"/>
          </a:xfrm>
          <a:custGeom>
            <a:avLst/>
            <a:gdLst/>
            <a:ahLst/>
            <a:cxnLst/>
            <a:rect l="l" t="t" r="r" b="b"/>
            <a:pathLst>
              <a:path w="1155142" h="591009" extrusionOk="0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g35c762ae955_0_68"/>
          <p:cNvSpPr/>
          <p:nvPr/>
        </p:nvSpPr>
        <p:spPr>
          <a:xfrm rot="5400000" flipH="1">
            <a:off x="10843531" y="2080531"/>
            <a:ext cx="1737401" cy="959536"/>
          </a:xfrm>
          <a:custGeom>
            <a:avLst/>
            <a:gdLst/>
            <a:ahLst/>
            <a:cxnLst/>
            <a:rect l="l" t="t" r="r" b="b"/>
            <a:pathLst>
              <a:path w="1737401" h="959536" extrusionOk="0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g35c762ae955_0_68"/>
          <p:cNvSpPr/>
          <p:nvPr/>
        </p:nvSpPr>
        <p:spPr>
          <a:xfrm flipH="1">
            <a:off x="0" y="2916245"/>
            <a:ext cx="159741" cy="552996"/>
          </a:xfrm>
          <a:custGeom>
            <a:avLst/>
            <a:gdLst/>
            <a:ahLst/>
            <a:cxnLst/>
            <a:rect l="l" t="t" r="r" b="b"/>
            <a:pathLst>
              <a:path w="159741" h="552996" extrusionOk="0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g35c762ae955_0_68"/>
          <p:cNvSpPr/>
          <p:nvPr/>
        </p:nvSpPr>
        <p:spPr>
          <a:xfrm flipH="1">
            <a:off x="0" y="5854045"/>
            <a:ext cx="1548180" cy="1004460"/>
          </a:xfrm>
          <a:custGeom>
            <a:avLst/>
            <a:gdLst/>
            <a:ahLst/>
            <a:cxnLst/>
            <a:rect l="l" t="t" r="r" b="b"/>
            <a:pathLst>
              <a:path w="1548180" h="1022351" extrusionOk="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g35c762ae955_0_68"/>
          <p:cNvSpPr/>
          <p:nvPr/>
        </p:nvSpPr>
        <p:spPr>
          <a:xfrm flipH="1">
            <a:off x="9775005" y="5717905"/>
            <a:ext cx="1771609" cy="1140095"/>
          </a:xfrm>
          <a:custGeom>
            <a:avLst/>
            <a:gdLst/>
            <a:ahLst/>
            <a:cxnLst/>
            <a:rect l="l" t="t" r="r" b="b"/>
            <a:pathLst>
              <a:path w="1771609" h="1140095" extrusionOk="0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g35c762ae955_0_68"/>
          <p:cNvSpPr/>
          <p:nvPr/>
        </p:nvSpPr>
        <p:spPr>
          <a:xfrm flipH="1">
            <a:off x="10330470" y="6258755"/>
            <a:ext cx="1565940" cy="599245"/>
          </a:xfrm>
          <a:custGeom>
            <a:avLst/>
            <a:gdLst/>
            <a:ahLst/>
            <a:cxnLst/>
            <a:rect l="l" t="t" r="r" b="b"/>
            <a:pathLst>
              <a:path w="1565940" h="599245" extrusionOk="0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7" name="Google Shape;247;g35c762ae955_0_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35020" y="1356113"/>
            <a:ext cx="7315206" cy="51009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hapesVTI">
  <a:themeElements>
    <a:clrScheme name="AnalogousFromDarkSeedLeftStep">
      <a:dk1>
        <a:srgbClr val="000000"/>
      </a:dk1>
      <a:lt1>
        <a:srgbClr val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242</Words>
  <Application>Microsoft Office PowerPoint</Application>
  <PresentationFormat>Panorámica</PresentationFormat>
  <Paragraphs>71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Arial</vt:lpstr>
      <vt:lpstr>Calibri</vt:lpstr>
      <vt:lpstr>Century Gothic</vt:lpstr>
      <vt:lpstr>ShapesVTI</vt:lpstr>
      <vt:lpstr>Repleno</vt:lpstr>
      <vt:lpstr>Presentación de PowerPoint</vt:lpstr>
      <vt:lpstr>Introduccion</vt:lpstr>
      <vt:lpstr>Problematica presentada</vt:lpstr>
      <vt:lpstr>Objetivos</vt:lpstr>
      <vt:lpstr>Metodologia</vt:lpstr>
      <vt:lpstr>Arquitectura Modelo logico base de datos </vt:lpstr>
      <vt:lpstr>Clientes</vt:lpstr>
      <vt:lpstr>Normas ISO</vt:lpstr>
      <vt:lpstr>APIs</vt:lpstr>
      <vt:lpstr>Suposiciones y restricciones</vt:lpstr>
      <vt:lpstr>Conclusiones generales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Acer</dc:creator>
  <cp:lastModifiedBy>JORDY ALEJANDRO LIZANA ALVAREZ</cp:lastModifiedBy>
  <cp:revision>1</cp:revision>
  <dcterms:created xsi:type="dcterms:W3CDTF">2023-05-11T19:58:58Z</dcterms:created>
  <dcterms:modified xsi:type="dcterms:W3CDTF">2025-12-09T19:59:06Z</dcterms:modified>
</cp:coreProperties>
</file>