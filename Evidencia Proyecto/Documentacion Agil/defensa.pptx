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y="6858000" cx="12192000"/>
  <p:notesSz cx="6858000" cy="9144000"/>
  <p:embeddedFontLst>
    <p:embeddedFont>
      <p:font typeface="Century Gothic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1" roundtripDataSignature="AMtx7mixh+20OWq9jG4Dm+nt2sQXQVM38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CenturyGothic-boldItalic.fnt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21" Type="http://customschemas.google.com/relationships/presentationmetadata" Target="metadata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CenturyGothic-regular.fntdata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19" Type="http://schemas.openxmlformats.org/officeDocument/2006/relationships/font" Target="fonts/CenturyGothic-italic.fntdata"/><Relationship Id="rId6" Type="http://schemas.openxmlformats.org/officeDocument/2006/relationships/slide" Target="slides/slide2.xml"/><Relationship Id="rId18" Type="http://schemas.openxmlformats.org/officeDocument/2006/relationships/font" Target="fonts/CenturyGothic-bold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6" name="Google Shape;9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aea9d59199_1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aea9d5919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9" name="Google Shape;119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38acfe7504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6" name="Google Shape;136;g338acfe7504_0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3aa1e54503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3aa1e545030_0_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aa1e54503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64" name="Google Shape;164;g3aa1e545030_0_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ae576175f6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9" name="Google Shape;179;g3ae576175f6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5c762ae955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9" name="Google Shape;189;g35c762ae955_0_2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8dbc7f2c22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4" name="Google Shape;204;g38dbc7f2c22_0_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38dbc7f2c22_0_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38dbc7f2c22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7db8b3d50_1_2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3a7db8b3d50_1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5c762ae955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36" name="Google Shape;236;g35c762ae955_0_6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9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9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  <p:sp>
        <p:nvSpPr>
          <p:cNvPr id="14" name="Google Shape;1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" name="Google Shape;17;p9"/>
          <p:cNvSpPr/>
          <p:nvPr/>
        </p:nvSpPr>
        <p:spPr>
          <a:xfrm>
            <a:off x="10208695" y="1"/>
            <a:ext cx="1135066" cy="477997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9"/>
          <p:cNvSpPr/>
          <p:nvPr/>
        </p:nvSpPr>
        <p:spPr>
          <a:xfrm flipH="1">
            <a:off x="555710" y="1064829"/>
            <a:ext cx="4083433" cy="4083433"/>
          </a:xfrm>
          <a:prstGeom prst="arc">
            <a:avLst>
              <a:gd fmla="val 16200000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1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11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" name="Google Shape;25;p11"/>
          <p:cNvSpPr/>
          <p:nvPr/>
        </p:nvSpPr>
        <p:spPr>
          <a:xfrm>
            <a:off x="10208695" y="1"/>
            <a:ext cx="1135066" cy="477997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" name="Google Shape;26;p11"/>
          <p:cNvSpPr/>
          <p:nvPr/>
        </p:nvSpPr>
        <p:spPr>
          <a:xfrm flipH="1">
            <a:off x="555710" y="1064829"/>
            <a:ext cx="4083433" cy="4083433"/>
          </a:xfrm>
          <a:prstGeom prst="arc">
            <a:avLst>
              <a:gd fmla="val 16200000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2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2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12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12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" name="Google Shape;35;p12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13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3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13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13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1" name="Google Shape;41;p13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1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1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1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13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3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4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1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1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14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" name="Google Shape;53;p14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8" name="Google Shape;58;p15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5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6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3" name="Google Shape;63;p16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4" name="Google Shape;64;p1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7" name="Google Shape;67;p16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p16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72" name="Google Shape;72;p17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73" name="Google Shape;73;p1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6" name="Google Shape;76;p17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7" name="Google Shape;77;p17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8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4" name="Google Shape;84;p18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8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9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9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9" name="Google Shape;89;p1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2" name="Google Shape;92;p19"/>
          <p:cNvSpPr/>
          <p:nvPr/>
        </p:nvSpPr>
        <p:spPr>
          <a:xfrm rot="-5400000">
            <a:off x="-388933" y="4841194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19"/>
          <p:cNvSpPr/>
          <p:nvPr/>
        </p:nvSpPr>
        <p:spPr>
          <a:xfrm>
            <a:off x="10494433" y="2"/>
            <a:ext cx="849328" cy="357668"/>
          </a:xfrm>
          <a:custGeom>
            <a:rect b="b" l="l" r="r" t="t"/>
            <a:pathLst>
              <a:path extrusionOk="0" h="477997" w="1135066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8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  <a:defRPr b="0" i="0" sz="32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8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556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429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302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302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8" name="Google Shape;8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9" name="Google Shape;9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0" name="Google Shape;10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100" u="none" cap="none" strike="noStrike">
                <a:solidFill>
                  <a:srgbClr val="888888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hyperlink" Target="http://drive.google.com/file/d/1gkYWLw9hlR2EeGifQA9hDPwdS85mo08R/view" TargetMode="External"/><Relationship Id="rId4" Type="http://schemas.openxmlformats.org/officeDocument/2006/relationships/image" Target="../media/image9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2.png"/><Relationship Id="rId6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"/>
          <p:cNvSpPr txBox="1"/>
          <p:nvPr>
            <p:ph type="ctrTitle"/>
          </p:nvPr>
        </p:nvSpPr>
        <p:spPr>
          <a:xfrm>
            <a:off x="6194715" y="482906"/>
            <a:ext cx="5910330" cy="144652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entury Gothic"/>
              <a:buNone/>
            </a:pPr>
            <a:r>
              <a:rPr lang="en-US" sz="4800"/>
              <a:t>Repleno</a:t>
            </a:r>
            <a:endParaRPr sz="4800"/>
          </a:p>
        </p:txBody>
      </p:sp>
      <p:sp>
        <p:nvSpPr>
          <p:cNvPr id="100" name="Google Shape;100;p1"/>
          <p:cNvSpPr txBox="1"/>
          <p:nvPr>
            <p:ph idx="1" type="subTitle"/>
          </p:nvPr>
        </p:nvSpPr>
        <p:spPr>
          <a:xfrm>
            <a:off x="6086445" y="3156434"/>
            <a:ext cx="6018600" cy="3231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556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Nombres:</a:t>
            </a:r>
            <a:r>
              <a:rPr lang="en-US" sz="2000"/>
              <a:t> 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-US" sz="2000"/>
              <a:t>S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ebastian Martinez, </a:t>
            </a:r>
            <a:r>
              <a:rPr lang="en-US" sz="2000"/>
              <a:t>Matias Ordenes, Jordy Lizana</a:t>
            </a:r>
            <a:endParaRPr sz="2000"/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Fecha:</a:t>
            </a:r>
            <a:r>
              <a:rPr lang="en-US" sz="2000"/>
              <a:t>21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000"/>
              <a:t>11</a:t>
            </a: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-202</a:t>
            </a:r>
            <a:r>
              <a:rPr lang="en-US" sz="2000"/>
              <a:t>5</a:t>
            </a:r>
            <a:endParaRPr sz="2000"/>
          </a:p>
          <a:p>
            <a:pPr indent="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000"/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Asignatura:</a:t>
            </a:r>
            <a:r>
              <a:rPr lang="en-US" sz="2000"/>
              <a:t> Capstone 007D</a:t>
            </a:r>
            <a:endParaRPr sz="2000">
              <a:solidFill>
                <a:srgbClr val="262626"/>
              </a:solidFill>
            </a:endParaRPr>
          </a:p>
          <a:p>
            <a:pPr indent="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000">
              <a:solidFill>
                <a:srgbClr val="262626"/>
              </a:solidFill>
            </a:endParaRPr>
          </a:p>
          <a:p>
            <a:pPr indent="-355600" lvl="0" marL="45720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2000"/>
              <a:buChar char="●"/>
            </a:pPr>
            <a:r>
              <a:rPr lang="en-US" sz="2000">
                <a:latin typeface="Century Gothic"/>
                <a:ea typeface="Century Gothic"/>
                <a:cs typeface="Century Gothic"/>
                <a:sym typeface="Century Gothic"/>
              </a:rPr>
              <a:t>Docente</a:t>
            </a:r>
            <a:r>
              <a:rPr lang="en-US" sz="2000"/>
              <a:t>: Juan Alberto Gana</a:t>
            </a:r>
            <a:endParaRPr/>
          </a:p>
        </p:txBody>
      </p:sp>
      <p:sp>
        <p:nvSpPr>
          <p:cNvPr id="101" name="Google Shape;101;p1"/>
          <p:cNvSpPr/>
          <p:nvPr/>
        </p:nvSpPr>
        <p:spPr>
          <a:xfrm flipH="1">
            <a:off x="530529" y="1"/>
            <a:ext cx="1155142" cy="591009"/>
          </a:xfrm>
          <a:custGeom>
            <a:rect b="b" l="l" r="r" t="t"/>
            <a:pathLst>
              <a:path extrusionOk="0" h="591009" w="1155142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1"/>
          <p:cNvSpPr/>
          <p:nvPr/>
        </p:nvSpPr>
        <p:spPr>
          <a:xfrm flipH="1">
            <a:off x="4349052" y="0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"/>
          <p:cNvSpPr/>
          <p:nvPr/>
        </p:nvSpPr>
        <p:spPr>
          <a:xfrm flipH="1">
            <a:off x="0" y="2916245"/>
            <a:ext cx="159741" cy="552996"/>
          </a:xfrm>
          <a:custGeom>
            <a:rect b="b" l="l" r="r" t="t"/>
            <a:pathLst>
              <a:path extrusionOk="0" h="552996" w="159741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1"/>
          <p:cNvSpPr/>
          <p:nvPr/>
        </p:nvSpPr>
        <p:spPr>
          <a:xfrm flipH="1">
            <a:off x="0" y="5835649"/>
            <a:ext cx="1548180" cy="1022351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1"/>
          <p:cNvSpPr/>
          <p:nvPr/>
        </p:nvSpPr>
        <p:spPr>
          <a:xfrm flipH="1">
            <a:off x="3697761" y="5717906"/>
            <a:ext cx="1771609" cy="1140095"/>
          </a:xfrm>
          <a:custGeom>
            <a:rect b="b" l="l" r="r" t="t"/>
            <a:pathLst>
              <a:path extrusionOk="0" h="1140095" w="1771609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"/>
          <p:cNvSpPr/>
          <p:nvPr/>
        </p:nvSpPr>
        <p:spPr>
          <a:xfrm flipH="1">
            <a:off x="4520513" y="6258756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1"/>
          <p:cNvSpPr txBox="1"/>
          <p:nvPr/>
        </p:nvSpPr>
        <p:spPr>
          <a:xfrm>
            <a:off x="6402490" y="2206656"/>
            <a:ext cx="5289175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Escuela de informática y telecomunicaciones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Logotipo&#10;&#10;Descripción generada automáticamente" id="108" name="Google Shape;10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85673" y="3416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2840" y="1408869"/>
            <a:ext cx="4926530" cy="47836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aea9d59199_1_0"/>
          <p:cNvSpPr txBox="1"/>
          <p:nvPr>
            <p:ph type="ctrTitle"/>
          </p:nvPr>
        </p:nvSpPr>
        <p:spPr>
          <a:xfrm>
            <a:off x="1524000" y="1122363"/>
            <a:ext cx="9144000" cy="2387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5" name="Google Shape;115;g3aea9d59199_1_0"/>
          <p:cNvSpPr txBox="1"/>
          <p:nvPr>
            <p:ph idx="1" type="subTitle"/>
          </p:nvPr>
        </p:nvSpPr>
        <p:spPr>
          <a:xfrm>
            <a:off x="1524000" y="3602038"/>
            <a:ext cx="9144000" cy="16557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6" name="Google Shape;116;g3aea9d59199_1_0" title="Video_Promocional_de_Gestión_de_Inventario.mp4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67050" y="857250"/>
            <a:ext cx="9657901" cy="5432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"/>
          <p:cNvSpPr/>
          <p:nvPr/>
        </p:nvSpPr>
        <p:spPr>
          <a:xfrm>
            <a:off x="9233418" y="242750"/>
            <a:ext cx="2796000" cy="2796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18825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2775" lIns="85550" spcFirstLastPara="1" rIns="85550" wrap="square" tIns="42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84"/>
              <a:buFont typeface="Century Gothic"/>
              <a:buNone/>
            </a:pPr>
            <a:r>
              <a:t/>
            </a:r>
            <a:endParaRPr b="0" i="0" sz="149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2"/>
          <p:cNvSpPr txBox="1"/>
          <p:nvPr>
            <p:ph type="ctrTitle"/>
          </p:nvPr>
        </p:nvSpPr>
        <p:spPr>
          <a:xfrm>
            <a:off x="6956175" y="432773"/>
            <a:ext cx="4250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Introduccion</a:t>
            </a:r>
            <a:endParaRPr sz="2000"/>
          </a:p>
        </p:txBody>
      </p:sp>
      <p:sp>
        <p:nvSpPr>
          <p:cNvPr id="123" name="Google Shape;123;p2"/>
          <p:cNvSpPr/>
          <p:nvPr/>
        </p:nvSpPr>
        <p:spPr>
          <a:xfrm>
            <a:off x="11006551" y="5986323"/>
            <a:ext cx="480300" cy="4674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2775" lIns="85550" spcFirstLastPara="1" rIns="85550" wrap="square" tIns="427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84"/>
              <a:buFont typeface="Century Gothic"/>
              <a:buNone/>
            </a:pPr>
            <a:r>
              <a:t/>
            </a:r>
            <a:endParaRPr b="0" i="0" sz="1497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4" name="Google Shape;124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3225" y="1090375"/>
            <a:ext cx="6236326" cy="4677251"/>
          </a:xfrm>
          <a:prstGeom prst="rect">
            <a:avLst/>
          </a:prstGeom>
          <a:noFill/>
          <a:ln>
            <a:noFill/>
          </a:ln>
        </p:spPr>
      </p:pic>
      <p:sp>
        <p:nvSpPr>
          <p:cNvPr id="125" name="Google Shape;125;p2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2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6956175" y="1289793"/>
            <a:ext cx="3977100" cy="6153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b="0" i="0" lang="en-US" sz="2058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Problematica presentada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8" name="Google Shape;128;p2"/>
          <p:cNvSpPr txBox="1"/>
          <p:nvPr/>
        </p:nvSpPr>
        <p:spPr>
          <a:xfrm>
            <a:off x="6956175" y="2869733"/>
            <a:ext cx="3818700" cy="5607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Metodología</a:t>
            </a: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y arquitectura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29" name="Google Shape;129;p2"/>
          <p:cNvSpPr txBox="1"/>
          <p:nvPr/>
        </p:nvSpPr>
        <p:spPr>
          <a:xfrm>
            <a:off x="6965439" y="2134953"/>
            <a:ext cx="3958800" cy="561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6956187" y="3604232"/>
            <a:ext cx="4050300" cy="560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Clientes y APIs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6956175" y="4338731"/>
            <a:ext cx="3818700" cy="5607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Normas ISO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32" name="Google Shape;132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53223" y="1948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"/>
          <p:cNvSpPr txBox="1"/>
          <p:nvPr/>
        </p:nvSpPr>
        <p:spPr>
          <a:xfrm>
            <a:off x="6956187" y="5073230"/>
            <a:ext cx="4093500" cy="5607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85550" lIns="85550" spcFirstLastPara="1" rIns="85550" wrap="square" tIns="855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46"/>
              <a:buFont typeface="Arial"/>
              <a:buNone/>
            </a:pPr>
            <a:r>
              <a:rPr lang="en-US" sz="2058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Suposiciones y restricciones</a:t>
            </a:r>
            <a:endParaRPr b="0" i="0" sz="2058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38acfe7504_0_2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g338acfe7504_0_23"/>
          <p:cNvSpPr txBox="1"/>
          <p:nvPr>
            <p:ph type="ctrTitle"/>
          </p:nvPr>
        </p:nvSpPr>
        <p:spPr>
          <a:xfrm>
            <a:off x="3469100" y="729025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Problematica presentada</a:t>
            </a:r>
            <a:endParaRPr sz="2000"/>
          </a:p>
        </p:txBody>
      </p:sp>
      <p:sp>
        <p:nvSpPr>
          <p:cNvPr id="140" name="Google Shape;140;g338acfe7504_0_2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g338acfe7504_0_2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38acfe7504_0_23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g338acfe7504_0_23"/>
          <p:cNvSpPr txBox="1"/>
          <p:nvPr/>
        </p:nvSpPr>
        <p:spPr>
          <a:xfrm>
            <a:off x="1866550" y="2098600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Mala organizacion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4" name="Google Shape;144;g338acfe7504_0_23"/>
          <p:cNvSpPr txBox="1"/>
          <p:nvPr/>
        </p:nvSpPr>
        <p:spPr>
          <a:xfrm>
            <a:off x="6268775" y="3739750"/>
            <a:ext cx="46266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Falta de historial y registros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5" name="Google Shape;145;g338acfe7504_0_23"/>
          <p:cNvSpPr txBox="1"/>
          <p:nvPr/>
        </p:nvSpPr>
        <p:spPr>
          <a:xfrm>
            <a:off x="1812100" y="3675150"/>
            <a:ext cx="3828000" cy="599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Pérdida de seguimiento 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46" name="Google Shape;146;g338acfe7504_0_23"/>
          <p:cNvSpPr txBox="1"/>
          <p:nvPr/>
        </p:nvSpPr>
        <p:spPr>
          <a:xfrm>
            <a:off x="5368100" y="2098600"/>
            <a:ext cx="5527200" cy="6576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Gestión de inventario escaso o nulo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47" name="Google Shape;147;g338acfe7504_0_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aa1e545030_0_0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aa1e545030_0_0"/>
          <p:cNvSpPr txBox="1"/>
          <p:nvPr>
            <p:ph type="ctrTitle"/>
          </p:nvPr>
        </p:nvSpPr>
        <p:spPr>
          <a:xfrm>
            <a:off x="3002100" y="54740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Objetivos</a:t>
            </a:r>
            <a:endParaRPr sz="2000"/>
          </a:p>
        </p:txBody>
      </p:sp>
      <p:sp>
        <p:nvSpPr>
          <p:cNvPr id="154" name="Google Shape;154;g3aa1e545030_0_0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g3aa1e545030_0_0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aa1e545030_0_0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aa1e545030_0_0"/>
          <p:cNvSpPr txBox="1"/>
          <p:nvPr/>
        </p:nvSpPr>
        <p:spPr>
          <a:xfrm>
            <a:off x="1638725" y="2167688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 general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8" name="Google Shape;158;g3aa1e545030_0_0"/>
          <p:cNvSpPr txBox="1"/>
          <p:nvPr/>
        </p:nvSpPr>
        <p:spPr>
          <a:xfrm>
            <a:off x="6473375" y="2704638"/>
            <a:ext cx="4811400" cy="2060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-Implementar Firebase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-Integrar API gemini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-Carga de CSV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-Reducir tiempos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-Facilitar toma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decisiones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59" name="Google Shape;159;g3aa1e545030_0_0"/>
          <p:cNvSpPr txBox="1"/>
          <p:nvPr/>
        </p:nvSpPr>
        <p:spPr>
          <a:xfrm>
            <a:off x="1638725" y="2825288"/>
            <a:ext cx="3828000" cy="17190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-Desarrollar sistema online gestion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Asistente virtual 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-Automatizar y optimizar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60" name="Google Shape;160;g3aa1e545030_0_0"/>
          <p:cNvSpPr txBox="1"/>
          <p:nvPr/>
        </p:nvSpPr>
        <p:spPr>
          <a:xfrm>
            <a:off x="6473375" y="2047038"/>
            <a:ext cx="3344700" cy="6576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Objetivos especificos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61" name="Google Shape;161;g3aa1e545030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aa1e545030_0_1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g3aa1e545030_0_13"/>
          <p:cNvSpPr txBox="1"/>
          <p:nvPr>
            <p:ph type="ctrTitle"/>
          </p:nvPr>
        </p:nvSpPr>
        <p:spPr>
          <a:xfrm>
            <a:off x="3002100" y="547400"/>
            <a:ext cx="5792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Metodologia</a:t>
            </a:r>
            <a:endParaRPr sz="2000"/>
          </a:p>
        </p:txBody>
      </p:sp>
      <p:sp>
        <p:nvSpPr>
          <p:cNvPr id="168" name="Google Shape;168;g3aa1e545030_0_1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g3aa1e545030_0_1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g3aa1e545030_0_13"/>
          <p:cNvSpPr/>
          <p:nvPr/>
        </p:nvSpPr>
        <p:spPr>
          <a:xfrm flipH="1" rot="10800000">
            <a:off x="6789545" y="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g3aa1e545030_0_13"/>
          <p:cNvSpPr txBox="1"/>
          <p:nvPr/>
        </p:nvSpPr>
        <p:spPr>
          <a:xfrm>
            <a:off x="4468650" y="1383463"/>
            <a:ext cx="3254700" cy="657600"/>
          </a:xfrm>
          <a:prstGeom prst="rect">
            <a:avLst/>
          </a:prstGeom>
          <a:solidFill>
            <a:srgbClr val="B4A7D6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Metodologia Agil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2" name="Google Shape;172;g3aa1e545030_0_13"/>
          <p:cNvSpPr txBox="1"/>
          <p:nvPr/>
        </p:nvSpPr>
        <p:spPr>
          <a:xfrm>
            <a:off x="1548175" y="2449797"/>
            <a:ext cx="3828000" cy="1368600"/>
          </a:xfrm>
          <a:prstGeom prst="rect">
            <a:avLst/>
          </a:prstGeom>
          <a:solidFill>
            <a:srgbClr val="F9CB9C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Estructura flexible, itineraria y orientada a entregas continuas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descr="Logotipo&#10;&#10;Descripción generada automáticamente" id="173" name="Google Shape;173;g3aa1e545030_0_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g3aa1e545030_0_13"/>
          <p:cNvSpPr txBox="1"/>
          <p:nvPr/>
        </p:nvSpPr>
        <p:spPr>
          <a:xfrm>
            <a:off x="7016275" y="2569496"/>
            <a:ext cx="3828000" cy="1129200"/>
          </a:xfrm>
          <a:prstGeom prst="rect">
            <a:avLst/>
          </a:prstGeom>
          <a:solidFill>
            <a:srgbClr val="D5A6BD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Sprints con incremento del producto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5" name="Google Shape;175;g3aa1e545030_0_13"/>
          <p:cNvSpPr txBox="1"/>
          <p:nvPr/>
        </p:nvSpPr>
        <p:spPr>
          <a:xfrm>
            <a:off x="1789825" y="4585625"/>
            <a:ext cx="4687200" cy="1368600"/>
          </a:xfrm>
          <a:prstGeom prst="rect">
            <a:avLst/>
          </a:prstGeom>
          <a:solidFill>
            <a:srgbClr val="A4C2F4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Colaboración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entre desarrolladores, comprension compartida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76" name="Google Shape;176;g3aa1e545030_0_13"/>
          <p:cNvSpPr txBox="1"/>
          <p:nvPr/>
        </p:nvSpPr>
        <p:spPr>
          <a:xfrm>
            <a:off x="7016275" y="4193895"/>
            <a:ext cx="3828000" cy="10044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Incremento calidad de producto final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ae576175f6_0_2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g3ae576175f6_0_2"/>
          <p:cNvSpPr txBox="1"/>
          <p:nvPr>
            <p:ph type="ctrTitle"/>
          </p:nvPr>
        </p:nvSpPr>
        <p:spPr>
          <a:xfrm>
            <a:off x="2933725" y="800400"/>
            <a:ext cx="62127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Arquitectura</a:t>
            </a:r>
            <a:endParaRPr sz="3500"/>
          </a:p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Modelo logico base de datos</a:t>
            </a:r>
            <a:endParaRPr sz="35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t/>
            </a:r>
            <a:endParaRPr sz="3500"/>
          </a:p>
        </p:txBody>
      </p:sp>
      <p:sp>
        <p:nvSpPr>
          <p:cNvPr id="183" name="Google Shape;183;g3ae576175f6_0_2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g3ae576175f6_0_2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Logotipo&#10;&#10;Descripción generada automáticamente" id="185" name="Google Shape;185;g3ae576175f6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6848" y="205324"/>
            <a:ext cx="2663375" cy="652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186" name="Google Shape;186;g3ae576175f6_0_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212750" y="1080250"/>
            <a:ext cx="7740349" cy="529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5c762ae955_0_23"/>
          <p:cNvSpPr/>
          <p:nvPr/>
        </p:nvSpPr>
        <p:spPr>
          <a:xfrm>
            <a:off x="0" y="-12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g35c762ae955_0_23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g35c762ae955_0_23"/>
          <p:cNvSpPr txBox="1"/>
          <p:nvPr>
            <p:ph type="ctrTitle"/>
          </p:nvPr>
        </p:nvSpPr>
        <p:spPr>
          <a:xfrm>
            <a:off x="3927400" y="4327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Clientes</a:t>
            </a:r>
            <a:endParaRPr sz="2000"/>
          </a:p>
        </p:txBody>
      </p:sp>
      <p:sp>
        <p:nvSpPr>
          <p:cNvPr id="194" name="Google Shape;194;g35c762ae955_0_23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g35c762ae955_0_23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5c762ae955_0_23"/>
          <p:cNvSpPr/>
          <p:nvPr/>
        </p:nvSpPr>
        <p:spPr>
          <a:xfrm flipH="1" rot="10800000">
            <a:off x="2840420" y="50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g35c762ae955_0_23"/>
          <p:cNvSpPr txBox="1"/>
          <p:nvPr/>
        </p:nvSpPr>
        <p:spPr>
          <a:xfrm>
            <a:off x="1212725" y="2418700"/>
            <a:ext cx="3327900" cy="6576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Dueños de negocios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8" name="Google Shape;198;g35c762ae955_0_23"/>
          <p:cNvSpPr txBox="1"/>
          <p:nvPr/>
        </p:nvSpPr>
        <p:spPr>
          <a:xfrm>
            <a:off x="1212725" y="4123530"/>
            <a:ext cx="33279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Almacenes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199" name="Google Shape;199;g35c762ae955_0_23"/>
          <p:cNvSpPr txBox="1"/>
          <p:nvPr/>
        </p:nvSpPr>
        <p:spPr>
          <a:xfrm>
            <a:off x="1212725" y="3332200"/>
            <a:ext cx="3327900" cy="599400"/>
          </a:xfrm>
          <a:prstGeom prst="rect">
            <a:avLst/>
          </a:prstGeom>
          <a:solidFill>
            <a:srgbClr val="C9DAF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Pymes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200" name="Google Shape;200;g35c762ae955_0_23" title="descarga (3).png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56184" y="1933184"/>
            <a:ext cx="3702300" cy="3702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Logotipo&#10;&#10;Descripción generada automáticamente" id="201" name="Google Shape;201;g35c762ae955_0_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9498" y="435312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38dbc7f2c22_0_7"/>
          <p:cNvSpPr/>
          <p:nvPr/>
        </p:nvSpPr>
        <p:spPr>
          <a:xfrm>
            <a:off x="0" y="-12"/>
            <a:ext cx="12192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g38dbc7f2c22_0_7"/>
          <p:cNvSpPr/>
          <p:nvPr/>
        </p:nvSpPr>
        <p:spPr>
          <a:xfrm>
            <a:off x="8947561" y="144699"/>
            <a:ext cx="2988000" cy="2988000"/>
          </a:xfrm>
          <a:prstGeom prst="arc">
            <a:avLst>
              <a:gd fmla="val 14441841" name="adj1"/>
              <a:gd fmla="val 0" name="adj2"/>
            </a:avLst>
          </a:prstGeom>
          <a:noFill/>
          <a:ln cap="rnd" cmpd="sng" w="127000">
            <a:solidFill>
              <a:schemeClr val="accent4"/>
            </a:solidFill>
            <a:prstDash val="dash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g38dbc7f2c22_0_7"/>
          <p:cNvSpPr/>
          <p:nvPr/>
        </p:nvSpPr>
        <p:spPr>
          <a:xfrm>
            <a:off x="11284779" y="5954217"/>
            <a:ext cx="513300" cy="4995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9" name="Google Shape;209;g38dbc7f2c22_0_7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g38dbc7f2c22_0_7"/>
          <p:cNvSpPr/>
          <p:nvPr/>
        </p:nvSpPr>
        <p:spPr>
          <a:xfrm flipH="1" rot="10800000">
            <a:off x="2840420" y="50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g38dbc7f2c22_0_7"/>
          <p:cNvSpPr txBox="1"/>
          <p:nvPr>
            <p:ph type="ctrTitle"/>
          </p:nvPr>
        </p:nvSpPr>
        <p:spPr>
          <a:xfrm>
            <a:off x="4954100" y="-286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APIs</a:t>
            </a:r>
            <a:endParaRPr sz="2000"/>
          </a:p>
        </p:txBody>
      </p:sp>
      <p:pic>
        <p:nvPicPr>
          <p:cNvPr id="212" name="Google Shape;212;g38dbc7f2c22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1975" y="3864800"/>
            <a:ext cx="3825652" cy="100445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13" name="Google Shape;213;g38dbc7f2c22_0_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01975" y="1873450"/>
            <a:ext cx="3592524" cy="1142900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id="214" name="Google Shape;214;g38dbc7f2c22_0_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246829" y="1538275"/>
            <a:ext cx="6037952" cy="4015226"/>
          </a:xfrm>
          <a:prstGeom prst="rect">
            <a:avLst/>
          </a:prstGeom>
          <a:solidFill>
            <a:schemeClr val="lt1"/>
          </a:solidFill>
          <a:ln>
            <a:noFill/>
          </a:ln>
        </p:spPr>
      </p:pic>
      <p:pic>
        <p:nvPicPr>
          <p:cNvPr descr="Logotipo&#10;&#10;Descripción generada automáticamente" id="215" name="Google Shape;215;g38dbc7f2c22_0_7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542673" y="299699"/>
            <a:ext cx="2663375" cy="652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38dbc7f2c22_0_2"/>
          <p:cNvSpPr txBox="1"/>
          <p:nvPr>
            <p:ph type="ctrTitle"/>
          </p:nvPr>
        </p:nvSpPr>
        <p:spPr>
          <a:xfrm>
            <a:off x="3927400" y="432775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entury Gothic"/>
              <a:buNone/>
            </a:pPr>
            <a:r>
              <a:rPr lang="en-US" sz="3500"/>
              <a:t>Normas ISO</a:t>
            </a:r>
            <a:endParaRPr sz="2000"/>
          </a:p>
        </p:txBody>
      </p:sp>
      <p:pic>
        <p:nvPicPr>
          <p:cNvPr descr="Logotipo&#10;&#10;Descripción generada automáticamente" id="221" name="Google Shape;221;g38dbc7f2c22_0_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g38dbc7f2c22_0_2"/>
          <p:cNvSpPr txBox="1"/>
          <p:nvPr/>
        </p:nvSpPr>
        <p:spPr>
          <a:xfrm>
            <a:off x="717575" y="2372425"/>
            <a:ext cx="5699400" cy="5991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Seguridad de la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información 27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.001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3" name="Google Shape;223;g38dbc7f2c22_0_2"/>
          <p:cNvSpPr txBox="1"/>
          <p:nvPr/>
        </p:nvSpPr>
        <p:spPr>
          <a:xfrm>
            <a:off x="7333400" y="2971975"/>
            <a:ext cx="3702300" cy="16269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-Funcionalidad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-Usabilidad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-Seguridad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-Mantenibilidad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4" name="Google Shape;224;g38dbc7f2c22_0_2"/>
          <p:cNvSpPr txBox="1"/>
          <p:nvPr/>
        </p:nvSpPr>
        <p:spPr>
          <a:xfrm>
            <a:off x="7333400" y="2372425"/>
            <a:ext cx="4362900" cy="599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Calidad de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software 25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.010</a:t>
            </a:r>
            <a:endParaRPr b="0" i="0" sz="2400" u="none" cap="none" strike="noStrike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25" name="Google Shape;225;g38dbc7f2c22_0_2"/>
          <p:cNvSpPr txBox="1"/>
          <p:nvPr/>
        </p:nvSpPr>
        <p:spPr>
          <a:xfrm>
            <a:off x="717575" y="2971825"/>
            <a:ext cx="5078100" cy="1403400"/>
          </a:xfrm>
          <a:prstGeom prst="rect">
            <a:avLst/>
          </a:prstGeom>
          <a:solidFill>
            <a:srgbClr val="FFE5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-Control de acceso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Protección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 datos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Gestión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de riesgos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a7db8b3d50_1_22"/>
          <p:cNvSpPr txBox="1"/>
          <p:nvPr>
            <p:ph type="ctrTitle"/>
          </p:nvPr>
        </p:nvSpPr>
        <p:spPr>
          <a:xfrm>
            <a:off x="3246300" y="633300"/>
            <a:ext cx="5699400" cy="65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 fontScale="90000"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71428"/>
              <a:buFont typeface="Century Gothic"/>
              <a:buNone/>
            </a:pPr>
            <a:r>
              <a:rPr lang="en-US" sz="3500"/>
              <a:t>Suposiciones y restricciones</a:t>
            </a:r>
            <a:endParaRPr sz="2000"/>
          </a:p>
        </p:txBody>
      </p:sp>
      <p:pic>
        <p:nvPicPr>
          <p:cNvPr descr="Logotipo&#10;&#10;Descripción generada automáticamente" id="231" name="Google Shape;231;g3a7db8b3d50_1_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9248" y="257724"/>
            <a:ext cx="2663375" cy="652516"/>
          </a:xfrm>
          <a:prstGeom prst="rect">
            <a:avLst/>
          </a:prstGeom>
          <a:noFill/>
          <a:ln>
            <a:noFill/>
          </a:ln>
        </p:spPr>
      </p:pic>
      <p:sp>
        <p:nvSpPr>
          <p:cNvPr id="232" name="Google Shape;232;g3a7db8b3d50_1_22"/>
          <p:cNvSpPr txBox="1"/>
          <p:nvPr/>
        </p:nvSpPr>
        <p:spPr>
          <a:xfrm>
            <a:off x="1394675" y="2052150"/>
            <a:ext cx="4488000" cy="2753700"/>
          </a:xfrm>
          <a:prstGeom prst="rect">
            <a:avLst/>
          </a:prstGeom>
          <a:solidFill>
            <a:srgbClr val="EA9999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-Disponibilidad de internet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-Conocimiento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básico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-Acceso de dispositivos compatibles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Integración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funcional de APIs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-Datos en plantilla CSV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233" name="Google Shape;233;g3a7db8b3d50_1_22"/>
          <p:cNvSpPr txBox="1"/>
          <p:nvPr/>
        </p:nvSpPr>
        <p:spPr>
          <a:xfrm>
            <a:off x="6116050" y="2052200"/>
            <a:ext cx="5554500" cy="2753700"/>
          </a:xfrm>
          <a:prstGeom prst="rect">
            <a:avLst/>
          </a:prstGeom>
          <a:solidFill>
            <a:srgbClr val="B6D7A8"/>
          </a:solidFill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-Dependencias de 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servicios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externos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Limitación</a:t>
            </a: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presupuesto y recursos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-Alcance a negocios pequeños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-Capacidad de almacenamiento y nube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-Privacidad y seguridad de datos</a:t>
            </a:r>
            <a:endParaRPr sz="2400">
              <a:solidFill>
                <a:schemeClr val="dk1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5c762ae955_0_68"/>
          <p:cNvSpPr txBox="1"/>
          <p:nvPr>
            <p:ph type="ctrTitle"/>
          </p:nvPr>
        </p:nvSpPr>
        <p:spPr>
          <a:xfrm>
            <a:off x="2933875" y="-416550"/>
            <a:ext cx="7028700" cy="14241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entury Gothic"/>
              <a:buNone/>
            </a:pPr>
            <a:r>
              <a:rPr lang="en-US" sz="4000"/>
              <a:t>Conclusiones generales</a:t>
            </a:r>
            <a:endParaRPr sz="4000"/>
          </a:p>
        </p:txBody>
      </p:sp>
      <p:sp>
        <p:nvSpPr>
          <p:cNvPr id="239" name="Google Shape;239;g35c762ae955_0_68"/>
          <p:cNvSpPr/>
          <p:nvPr/>
        </p:nvSpPr>
        <p:spPr>
          <a:xfrm flipH="1">
            <a:off x="530529" y="1"/>
            <a:ext cx="1155142" cy="591009"/>
          </a:xfrm>
          <a:custGeom>
            <a:rect b="b" l="l" r="r" t="t"/>
            <a:pathLst>
              <a:path extrusionOk="0" h="591009" w="1155142">
                <a:moveTo>
                  <a:pt x="1355" y="0"/>
                </a:moveTo>
                <a:lnTo>
                  <a:pt x="1153787" y="0"/>
                </a:lnTo>
                <a:lnTo>
                  <a:pt x="1155142" y="13438"/>
                </a:lnTo>
                <a:cubicBezTo>
                  <a:pt x="1155142" y="332422"/>
                  <a:pt x="896555" y="591009"/>
                  <a:pt x="577571" y="591009"/>
                </a:cubicBezTo>
                <a:cubicBezTo>
                  <a:pt x="258587" y="591009"/>
                  <a:pt x="0" y="332422"/>
                  <a:pt x="0" y="13438"/>
                </a:cubicBez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g35c762ae955_0_68"/>
          <p:cNvSpPr/>
          <p:nvPr/>
        </p:nvSpPr>
        <p:spPr>
          <a:xfrm flipH="1" rot="5400000">
            <a:off x="10843531" y="2080531"/>
            <a:ext cx="1737401" cy="959536"/>
          </a:xfrm>
          <a:custGeom>
            <a:rect b="b" l="l" r="r" t="t"/>
            <a:pathLst>
              <a:path extrusionOk="0" h="959536" w="1737401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g35c762ae955_0_68"/>
          <p:cNvSpPr/>
          <p:nvPr/>
        </p:nvSpPr>
        <p:spPr>
          <a:xfrm flipH="1">
            <a:off x="0" y="2916245"/>
            <a:ext cx="159741" cy="552996"/>
          </a:xfrm>
          <a:custGeom>
            <a:rect b="b" l="l" r="r" t="t"/>
            <a:pathLst>
              <a:path extrusionOk="0" h="552996" w="159741">
                <a:moveTo>
                  <a:pt x="159741" y="0"/>
                </a:moveTo>
                <a:lnTo>
                  <a:pt x="159741" y="552996"/>
                </a:lnTo>
                <a:lnTo>
                  <a:pt x="141849" y="543285"/>
                </a:lnTo>
                <a:cubicBezTo>
                  <a:pt x="56268" y="485467"/>
                  <a:pt x="0" y="387554"/>
                  <a:pt x="0" y="276498"/>
                </a:cubicBezTo>
                <a:cubicBezTo>
                  <a:pt x="0" y="165443"/>
                  <a:pt x="56268" y="67529"/>
                  <a:pt x="141849" y="971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g35c762ae955_0_68"/>
          <p:cNvSpPr/>
          <p:nvPr/>
        </p:nvSpPr>
        <p:spPr>
          <a:xfrm flipH="1">
            <a:off x="0" y="5854045"/>
            <a:ext cx="1548180" cy="1004460"/>
          </a:xfrm>
          <a:custGeom>
            <a:rect b="b" l="l" r="r" t="t"/>
            <a:pathLst>
              <a:path extrusionOk="0" h="1022351" w="1548180">
                <a:moveTo>
                  <a:pt x="61913" y="0"/>
                </a:moveTo>
                <a:lnTo>
                  <a:pt x="1548180" y="0"/>
                </a:lnTo>
                <a:lnTo>
                  <a:pt x="1548180" y="123825"/>
                </a:lnTo>
                <a:lnTo>
                  <a:pt x="123825" y="123825"/>
                </a:lnTo>
                <a:lnTo>
                  <a:pt x="123825" y="1022351"/>
                </a:lnTo>
                <a:lnTo>
                  <a:pt x="0" y="1022351"/>
                </a:ln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3" name="Google Shape;243;g35c762ae955_0_68"/>
          <p:cNvSpPr/>
          <p:nvPr/>
        </p:nvSpPr>
        <p:spPr>
          <a:xfrm flipH="1">
            <a:off x="9775005" y="5717905"/>
            <a:ext cx="1771609" cy="1140095"/>
          </a:xfrm>
          <a:custGeom>
            <a:rect b="b" l="l" r="r" t="t"/>
            <a:pathLst>
              <a:path extrusionOk="0" h="1140095" w="1771609">
                <a:moveTo>
                  <a:pt x="1561721" y="763041"/>
                </a:moveTo>
                <a:cubicBezTo>
                  <a:pt x="1585506" y="760324"/>
                  <a:pt x="1609722" y="771249"/>
                  <a:pt x="1623024" y="792810"/>
                </a:cubicBezTo>
                <a:cubicBezTo>
                  <a:pt x="1656300" y="850065"/>
                  <a:pt x="1685920" y="909291"/>
                  <a:pt x="1711735" y="970132"/>
                </a:cubicBezTo>
                <a:lnTo>
                  <a:pt x="1771609" y="1140095"/>
                </a:lnTo>
                <a:lnTo>
                  <a:pt x="1637225" y="1140095"/>
                </a:lnTo>
                <a:lnTo>
                  <a:pt x="1594820" y="1019711"/>
                </a:lnTo>
                <a:cubicBezTo>
                  <a:pt x="1571072" y="963753"/>
                  <a:pt x="1543818" y="909282"/>
                  <a:pt x="1513200" y="856627"/>
                </a:cubicBezTo>
                <a:cubicBezTo>
                  <a:pt x="1496379" y="825834"/>
                  <a:pt x="1507704" y="787236"/>
                  <a:pt x="1538499" y="770415"/>
                </a:cubicBezTo>
                <a:cubicBezTo>
                  <a:pt x="1545912" y="766367"/>
                  <a:pt x="1553792" y="763946"/>
                  <a:pt x="1561721" y="763041"/>
                </a:cubicBezTo>
                <a:close/>
                <a:moveTo>
                  <a:pt x="933455" y="161309"/>
                </a:moveTo>
                <a:cubicBezTo>
                  <a:pt x="941693" y="161855"/>
                  <a:pt x="949959" y="164025"/>
                  <a:pt x="957797" y="167970"/>
                </a:cubicBezTo>
                <a:cubicBezTo>
                  <a:pt x="1076184" y="227289"/>
                  <a:pt x="1186759" y="301068"/>
                  <a:pt x="1286982" y="387616"/>
                </a:cubicBezTo>
                <a:cubicBezTo>
                  <a:pt x="1313547" y="410457"/>
                  <a:pt x="1316566" y="450510"/>
                  <a:pt x="1293725" y="477075"/>
                </a:cubicBezTo>
                <a:cubicBezTo>
                  <a:pt x="1281638" y="491137"/>
                  <a:pt x="1263998" y="499204"/>
                  <a:pt x="1245453" y="499154"/>
                </a:cubicBezTo>
                <a:lnTo>
                  <a:pt x="1245167" y="499154"/>
                </a:lnTo>
                <a:cubicBezTo>
                  <a:pt x="1229965" y="499301"/>
                  <a:pt x="1215220" y="493956"/>
                  <a:pt x="1203638" y="484104"/>
                </a:cubicBezTo>
                <a:cubicBezTo>
                  <a:pt x="1111407" y="404300"/>
                  <a:pt x="1009633" y="336248"/>
                  <a:pt x="900647" y="281508"/>
                </a:cubicBezTo>
                <a:cubicBezTo>
                  <a:pt x="869295" y="265726"/>
                  <a:pt x="856672" y="227516"/>
                  <a:pt x="872454" y="196164"/>
                </a:cubicBezTo>
                <a:cubicBezTo>
                  <a:pt x="884290" y="172650"/>
                  <a:pt x="908742" y="159670"/>
                  <a:pt x="933455" y="161309"/>
                </a:cubicBezTo>
                <a:close/>
                <a:moveTo>
                  <a:pt x="256260" y="29"/>
                </a:moveTo>
                <a:cubicBezTo>
                  <a:pt x="322331" y="427"/>
                  <a:pt x="388378" y="4909"/>
                  <a:pt x="454020" y="13474"/>
                </a:cubicBezTo>
                <a:cubicBezTo>
                  <a:pt x="488793" y="17752"/>
                  <a:pt x="513514" y="49409"/>
                  <a:pt x="509236" y="84182"/>
                </a:cubicBezTo>
                <a:cubicBezTo>
                  <a:pt x="505303" y="116151"/>
                  <a:pt x="478038" y="140098"/>
                  <a:pt x="445829" y="139871"/>
                </a:cubicBezTo>
                <a:cubicBezTo>
                  <a:pt x="443027" y="139899"/>
                  <a:pt x="440227" y="139740"/>
                  <a:pt x="437447" y="139395"/>
                </a:cubicBezTo>
                <a:cubicBezTo>
                  <a:pt x="316592" y="123615"/>
                  <a:pt x="194247" y="122878"/>
                  <a:pt x="73211" y="137204"/>
                </a:cubicBezTo>
                <a:cubicBezTo>
                  <a:pt x="38532" y="142545"/>
                  <a:pt x="6090" y="118762"/>
                  <a:pt x="749" y="84082"/>
                </a:cubicBezTo>
                <a:cubicBezTo>
                  <a:pt x="-4591" y="49403"/>
                  <a:pt x="19192" y="16961"/>
                  <a:pt x="53871" y="11621"/>
                </a:cubicBezTo>
                <a:cubicBezTo>
                  <a:pt x="55358" y="11392"/>
                  <a:pt x="56852" y="11216"/>
                  <a:pt x="58352" y="11093"/>
                </a:cubicBezTo>
                <a:cubicBezTo>
                  <a:pt x="124093" y="3319"/>
                  <a:pt x="190189" y="-369"/>
                  <a:pt x="256260" y="29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4" name="Google Shape;244;g35c762ae955_0_68"/>
          <p:cNvSpPr/>
          <p:nvPr/>
        </p:nvSpPr>
        <p:spPr>
          <a:xfrm flipH="1">
            <a:off x="10330470" y="6258755"/>
            <a:ext cx="1565940" cy="599245"/>
          </a:xfrm>
          <a:custGeom>
            <a:rect b="b" l="l" r="r" t="t"/>
            <a:pathLst>
              <a:path extrusionOk="0" h="599245" w="1565940">
                <a:moveTo>
                  <a:pt x="782970" y="0"/>
                </a:moveTo>
                <a:cubicBezTo>
                  <a:pt x="1117910" y="0"/>
                  <a:pt x="1405287" y="198118"/>
                  <a:pt x="1528042" y="480469"/>
                </a:cubicBezTo>
                <a:lnTo>
                  <a:pt x="1565940" y="599245"/>
                </a:lnTo>
                <a:lnTo>
                  <a:pt x="0" y="599245"/>
                </a:lnTo>
                <a:lnTo>
                  <a:pt x="37898" y="480469"/>
                </a:lnTo>
                <a:cubicBezTo>
                  <a:pt x="160653" y="198118"/>
                  <a:pt x="448030" y="0"/>
                  <a:pt x="782970" y="0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entury Gothic"/>
              <a:buNone/>
            </a:pPr>
            <a:r>
              <a:t/>
            </a:r>
            <a:endParaRPr b="0" i="0" sz="18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45" name="Google Shape;245;g35c762ae955_0_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5020" y="1356113"/>
            <a:ext cx="7315206" cy="51009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apesVTI">
  <a:themeElements>
    <a:clrScheme name="AnalogousFromDarkSeedLeftStep">
      <a:dk1>
        <a:srgbClr val="000000"/>
      </a:dk1>
      <a:lt1>
        <a:srgbClr val="FFFFFF"/>
      </a:lt1>
      <a:dk2>
        <a:srgbClr val="17406D"/>
      </a:dk2>
      <a:lt2>
        <a:srgbClr val="DBEF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F49100"/>
      </a:hlink>
      <a:folHlink>
        <a:srgbClr val="85DFD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2023-05-11T19:58:58Z</dcterms:created>
  <dc:creator>Acer</dc:creator>
</cp:coreProperties>
</file>